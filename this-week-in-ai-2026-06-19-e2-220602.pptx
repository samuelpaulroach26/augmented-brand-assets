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0287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THIS WEEK IN AI</a:t>
            </a:r>
          </a:p>
        </p:txBody>
      </p:sp>
      <p:sp>
        <p:nvSpPr>
          <p:cNvPr id="4" name="TextBox 3"/>
          <p:cNvSpPr txBox="1"/>
          <p:nvPr/>
        </p:nvSpPr>
        <p:spPr>
          <a:xfrm>
            <a:off x="5486400" y="777240"/>
            <a:ext cx="3886200" cy="548640"/>
          </a:xfrm>
          <a:prstGeom prst="rect">
            <a:avLst/>
          </a:prstGeom>
          <a:noFill/>
        </p:spPr>
        <p:txBody>
          <a:bodyPr wrap="square">
            <a:spAutoFit/>
          </a:bodyPr>
          <a:lstStyle/>
          <a:p>
            <a:pPr algn="r"/>
            <a:r>
              <a:rPr sz="1300" i="0" b="1">
                <a:solidFill>
                  <a:srgbClr val="9AA0AC"/>
                </a:solidFill>
                <a:latin typeface="Inter"/>
              </a:rPr>
              <a:t>ISSUE 02 · 13-19 JUN 2026</a:t>
            </a:r>
          </a:p>
        </p:txBody>
      </p:sp>
      <p:sp>
        <p:nvSpPr>
          <p:cNvPr id="5" name="TextBox 4"/>
          <p:cNvSpPr txBox="1"/>
          <p:nvPr/>
        </p:nvSpPr>
        <p:spPr>
          <a:xfrm>
            <a:off x="914400" y="2743200"/>
            <a:ext cx="8503920" cy="2377440"/>
          </a:xfrm>
          <a:prstGeom prst="rect">
            <a:avLst/>
          </a:prstGeom>
          <a:noFill/>
        </p:spPr>
        <p:txBody>
          <a:bodyPr wrap="square" anchor="b">
            <a:spAutoFit/>
          </a:bodyPr>
          <a:lstStyle/>
          <a:p>
            <a:pPr algn="l">
              <a:lnSpc>
                <a:spcPct val="105000"/>
              </a:lnSpc>
            </a:pPr>
            <a:r>
              <a:rPr sz="5400" i="0" b="0">
                <a:solidFill>
                  <a:srgbClr val="FEFEFE"/>
                </a:solidFill>
                <a:latin typeface="Instrument Serif"/>
              </a:rPr>
              <a:t>The loop is the </a:t>
            </a:r>
            <a:r>
              <a:rPr sz="5400" i="1" b="0">
                <a:solidFill>
                  <a:srgbClr val="10B77F"/>
                </a:solidFill>
                <a:latin typeface="Instrument Serif"/>
              </a:rPr>
              <a:t>moat</a:t>
            </a:r>
            <a:r>
              <a:rPr sz="5400" i="0" b="0">
                <a:solidFill>
                  <a:srgbClr val="FEFEFE"/>
                </a:solidFill>
                <a:latin typeface="Instrument Serif"/>
              </a:rPr>
              <a:t>.</a:t>
            </a:r>
          </a:p>
        </p:txBody>
      </p:sp>
      <p:sp>
        <p:nvSpPr>
          <p:cNvPr id="6" name="TextBox 5"/>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9AA0AC"/>
                </a:solidFill>
                <a:latin typeface="Inter"/>
              </a:rPr>
              <a:t>Capital, capability and talent all moved the same direction this week. Toward owning the loop.</a:t>
            </a:r>
          </a:p>
        </p:txBody>
      </p:sp>
      <p:sp>
        <p:nvSpPr>
          <p:cNvPr id="7" name="Diamond 6"/>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MARKETS</a:t>
            </a:r>
          </a:p>
        </p:txBody>
      </p:sp>
      <p:sp>
        <p:nvSpPr>
          <p:cNvPr id="4" name="TextBox 3"/>
          <p:cNvSpPr txBox="1"/>
          <p:nvPr/>
        </p:nvSpPr>
        <p:spPr>
          <a:xfrm>
            <a:off x="5486400" y="777240"/>
            <a:ext cx="3886200" cy="548640"/>
          </a:xfrm>
          <a:prstGeom prst="rect">
            <a:avLst/>
          </a:prstGeom>
          <a:noFill/>
        </p:spPr>
        <p:txBody>
          <a:bodyPr wrap="square">
            <a:spAutoFit/>
          </a:bodyPr>
          <a:lstStyle/>
          <a:p>
            <a:pPr algn="r"/>
            <a:r>
              <a:rPr sz="1300" i="0" b="1">
                <a:solidFill>
                  <a:srgbClr val="9AA0AC"/>
                </a:solidFill>
                <a:latin typeface="Inter"/>
              </a:rPr>
              <a:t>01 / 03</a:t>
            </a:r>
          </a:p>
        </p:txBody>
      </p:sp>
      <p:sp>
        <p:nvSpPr>
          <p:cNvPr id="5" name="TextBox 4"/>
          <p:cNvSpPr txBox="1"/>
          <p:nvPr/>
        </p:nvSpPr>
        <p:spPr>
          <a:xfrm>
            <a:off x="914400" y="2743200"/>
            <a:ext cx="8503920" cy="2377440"/>
          </a:xfrm>
          <a:prstGeom prst="rect">
            <a:avLst/>
          </a:prstGeom>
          <a:noFill/>
        </p:spPr>
        <p:txBody>
          <a:bodyPr wrap="square" anchor="b">
            <a:spAutoFit/>
          </a:bodyPr>
          <a:lstStyle/>
          <a:p>
            <a:pPr algn="l">
              <a:lnSpc>
                <a:spcPct val="105000"/>
              </a:lnSpc>
            </a:pPr>
            <a:r>
              <a:rPr sz="4200" i="0" b="0">
                <a:solidFill>
                  <a:srgbClr val="FEFEFE"/>
                </a:solidFill>
                <a:latin typeface="Instrument Serif"/>
              </a:rPr>
              <a:t>The money is moving to where tokens </a:t>
            </a:r>
            <a:r>
              <a:rPr sz="4200" i="1" b="0">
                <a:solidFill>
                  <a:srgbClr val="10B77F"/>
                </a:solidFill>
                <a:latin typeface="Instrument Serif"/>
              </a:rPr>
              <a:t>run</a:t>
            </a:r>
            <a:r>
              <a:rPr sz="4200" i="0" b="0">
                <a:solidFill>
                  <a:srgbClr val="FEFEFE"/>
                </a:solidFill>
                <a:latin typeface="Instrument Serif"/>
              </a:rPr>
              <a:t>.</a:t>
            </a:r>
          </a:p>
        </p:txBody>
      </p:sp>
      <p:sp>
        <p:nvSpPr>
          <p:cNvPr id="6" name="TextBox 5"/>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E6E8EC"/>
                </a:solidFill>
                <a:latin typeface="Inter"/>
              </a:rPr>
              <a:t>Baseten raised $1.5B this week at up to a $13B valuation. It does not train frontier models. It runs them. Revenue has gone from a $200M to a $600M run rate as demand for cheaper inference explodes.</a:t>
            </a:r>
          </a:p>
        </p:txBody>
      </p:sp>
      <p:sp>
        <p:nvSpPr>
          <p:cNvPr id="7" name="TextBox 6"/>
          <p:cNvSpPr txBox="1"/>
          <p:nvPr/>
        </p:nvSpPr>
        <p:spPr>
          <a:xfrm>
            <a:off x="914400" y="7772400"/>
            <a:ext cx="6400800" cy="548640"/>
          </a:xfrm>
          <a:prstGeom prst="rect">
            <a:avLst/>
          </a:prstGeom>
          <a:noFill/>
        </p:spPr>
        <p:txBody>
          <a:bodyPr wrap="square">
            <a:spAutoFit/>
          </a:bodyPr>
          <a:lstStyle/>
          <a:p>
            <a:r>
              <a:rPr sz="1700" i="0" b="1">
                <a:solidFill>
                  <a:srgbClr val="10B77F"/>
                </a:solidFill>
                <a:latin typeface="Inter"/>
              </a:rPr>
              <a:t>$1.5B raised  ·  ~$13B valuation</a:t>
            </a:r>
          </a:p>
        </p:txBody>
      </p:sp>
      <p:sp>
        <p:nvSpPr>
          <p:cNvPr id="8" name="TextBox 7"/>
          <p:cNvSpPr txBox="1"/>
          <p:nvPr/>
        </p:nvSpPr>
        <p:spPr>
          <a:xfrm>
            <a:off x="914400" y="8366760"/>
            <a:ext cx="7315200" cy="365760"/>
          </a:xfrm>
          <a:prstGeom prst="rect">
            <a:avLst/>
          </a:prstGeom>
          <a:noFill/>
        </p:spPr>
        <p:txBody>
          <a:bodyPr wrap="square">
            <a:spAutoFit/>
          </a:bodyPr>
          <a:lstStyle/>
          <a:p>
            <a:r>
              <a:rPr sz="1100" i="0" b="0">
                <a:solidFill>
                  <a:srgbClr val="8A8F9A"/>
                </a:solidFill>
                <a:latin typeface="Inter"/>
              </a:rPr>
              <a:t>Source: Wall Street Journal, 18 Jun 2026</a:t>
            </a:r>
          </a:p>
        </p:txBody>
      </p:sp>
      <p:sp>
        <p:nvSpPr>
          <p:cNvPr id="9" name="Diamond 8"/>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MODELS</a:t>
            </a:r>
          </a:p>
        </p:txBody>
      </p:sp>
      <p:sp>
        <p:nvSpPr>
          <p:cNvPr id="4" name="TextBox 3"/>
          <p:cNvSpPr txBox="1"/>
          <p:nvPr/>
        </p:nvSpPr>
        <p:spPr>
          <a:xfrm>
            <a:off x="5486400" y="777240"/>
            <a:ext cx="3886200" cy="548640"/>
          </a:xfrm>
          <a:prstGeom prst="rect">
            <a:avLst/>
          </a:prstGeom>
          <a:noFill/>
        </p:spPr>
        <p:txBody>
          <a:bodyPr wrap="square">
            <a:spAutoFit/>
          </a:bodyPr>
          <a:lstStyle/>
          <a:p>
            <a:pPr algn="r"/>
            <a:r>
              <a:rPr sz="1300" i="0" b="1">
                <a:solidFill>
                  <a:srgbClr val="9AA0AC"/>
                </a:solidFill>
                <a:latin typeface="Inter"/>
              </a:rPr>
              <a:t>02 / 03</a:t>
            </a:r>
          </a:p>
        </p:txBody>
      </p:sp>
      <p:sp>
        <p:nvSpPr>
          <p:cNvPr id="5" name="TextBox 4"/>
          <p:cNvSpPr txBox="1"/>
          <p:nvPr/>
        </p:nvSpPr>
        <p:spPr>
          <a:xfrm>
            <a:off x="914400" y="2743200"/>
            <a:ext cx="8503920" cy="2377440"/>
          </a:xfrm>
          <a:prstGeom prst="rect">
            <a:avLst/>
          </a:prstGeom>
          <a:noFill/>
        </p:spPr>
        <p:txBody>
          <a:bodyPr wrap="square" anchor="b">
            <a:spAutoFit/>
          </a:bodyPr>
          <a:lstStyle/>
          <a:p>
            <a:pPr algn="l">
              <a:lnSpc>
                <a:spcPct val="105000"/>
              </a:lnSpc>
            </a:pPr>
            <a:r>
              <a:rPr sz="4000" i="0" b="0">
                <a:solidFill>
                  <a:srgbClr val="FEFEFE"/>
                </a:solidFill>
                <a:latin typeface="Instrument Serif"/>
              </a:rPr>
              <a:t>Perplexity shipped memory that </a:t>
            </a:r>
            <a:r>
              <a:rPr sz="4000" i="1" b="0">
                <a:solidFill>
                  <a:srgbClr val="10B77F"/>
                </a:solidFill>
                <a:latin typeface="Instrument Serif"/>
              </a:rPr>
              <a:t>compounds</a:t>
            </a:r>
            <a:r>
              <a:rPr sz="4000" i="0" b="0">
                <a:solidFill>
                  <a:srgbClr val="FEFEFE"/>
                </a:solidFill>
                <a:latin typeface="Instrument Serif"/>
              </a:rPr>
              <a:t>.</a:t>
            </a:r>
          </a:p>
        </p:txBody>
      </p:sp>
      <p:sp>
        <p:nvSpPr>
          <p:cNvPr id="6" name="TextBox 5"/>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E6E8EC"/>
                </a:solidFill>
                <a:latin typeface="Inter"/>
              </a:rPr>
              <a:t>New system called Brain. It maps what an agent did, then reviews that graph overnight to learn what worked, what failed and what got corrected. The agent starts the next task sharper than it finished the last one.</a:t>
            </a:r>
          </a:p>
        </p:txBody>
      </p:sp>
      <p:sp>
        <p:nvSpPr>
          <p:cNvPr id="7" name="TextBox 6"/>
          <p:cNvSpPr txBox="1"/>
          <p:nvPr/>
        </p:nvSpPr>
        <p:spPr>
          <a:xfrm>
            <a:off x="914400" y="8366760"/>
            <a:ext cx="7315200" cy="365760"/>
          </a:xfrm>
          <a:prstGeom prst="rect">
            <a:avLst/>
          </a:prstGeom>
          <a:noFill/>
        </p:spPr>
        <p:txBody>
          <a:bodyPr wrap="square">
            <a:spAutoFit/>
          </a:bodyPr>
          <a:lstStyle/>
          <a:p>
            <a:r>
              <a:rPr sz="1100" i="0" b="0">
                <a:solidFill>
                  <a:srgbClr val="8A8F9A"/>
                </a:solidFill>
                <a:latin typeface="Inter"/>
              </a:rPr>
              <a:t>Source: Perplexity, 18 Jun 2026</a:t>
            </a:r>
          </a:p>
        </p:txBody>
      </p:sp>
      <p:sp>
        <p:nvSpPr>
          <p:cNvPr id="8" name="Diamond 7"/>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STRATEGY</a:t>
            </a:r>
          </a:p>
        </p:txBody>
      </p:sp>
      <p:sp>
        <p:nvSpPr>
          <p:cNvPr id="4" name="TextBox 3"/>
          <p:cNvSpPr txBox="1"/>
          <p:nvPr/>
        </p:nvSpPr>
        <p:spPr>
          <a:xfrm>
            <a:off x="5486400" y="777240"/>
            <a:ext cx="3886200" cy="548640"/>
          </a:xfrm>
          <a:prstGeom prst="rect">
            <a:avLst/>
          </a:prstGeom>
          <a:noFill/>
        </p:spPr>
        <p:txBody>
          <a:bodyPr wrap="square">
            <a:spAutoFit/>
          </a:bodyPr>
          <a:lstStyle/>
          <a:p>
            <a:pPr algn="r"/>
            <a:r>
              <a:rPr sz="1300" i="0" b="1">
                <a:solidFill>
                  <a:srgbClr val="9AA0AC"/>
                </a:solidFill>
                <a:latin typeface="Inter"/>
              </a:rPr>
              <a:t>03 / 03</a:t>
            </a:r>
          </a:p>
        </p:txBody>
      </p:sp>
      <p:sp>
        <p:nvSpPr>
          <p:cNvPr id="5" name="TextBox 4"/>
          <p:cNvSpPr txBox="1"/>
          <p:nvPr/>
        </p:nvSpPr>
        <p:spPr>
          <a:xfrm>
            <a:off x="914400" y="2743200"/>
            <a:ext cx="8503920" cy="2377440"/>
          </a:xfrm>
          <a:prstGeom prst="rect">
            <a:avLst/>
          </a:prstGeom>
          <a:noFill/>
        </p:spPr>
        <p:txBody>
          <a:bodyPr wrap="square" anchor="b">
            <a:spAutoFit/>
          </a:bodyPr>
          <a:lstStyle/>
          <a:p>
            <a:pPr algn="l">
              <a:lnSpc>
                <a:spcPct val="105000"/>
              </a:lnSpc>
            </a:pPr>
            <a:r>
              <a:rPr sz="4000" i="0" b="0">
                <a:solidFill>
                  <a:srgbClr val="FEFEFE"/>
                </a:solidFill>
                <a:latin typeface="Instrument Serif"/>
              </a:rPr>
              <a:t>The talent war is really a </a:t>
            </a:r>
            <a:r>
              <a:rPr sz="4000" i="1" b="0">
                <a:solidFill>
                  <a:srgbClr val="10B77F"/>
                </a:solidFill>
                <a:latin typeface="Instrument Serif"/>
              </a:rPr>
              <a:t>capital</a:t>
            </a:r>
            <a:r>
              <a:rPr sz="4000" i="0" b="0">
                <a:solidFill>
                  <a:srgbClr val="FEFEFE"/>
                </a:solidFill>
                <a:latin typeface="Instrument Serif"/>
              </a:rPr>
              <a:t> war.</a:t>
            </a:r>
          </a:p>
        </p:txBody>
      </p:sp>
      <p:sp>
        <p:nvSpPr>
          <p:cNvPr id="6" name="TextBox 5"/>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E6E8EC"/>
                </a:solidFill>
                <a:latin typeface="Inter"/>
              </a:rPr>
              <a:t>OpenAI hired Noam Shazeer, the co-inventor of the transformer, ahead of its Q4 IPO. Google paid $2.7B to bring him back less than two years ago. The scarcest asset in AI is still the person who can build the loop.</a:t>
            </a:r>
          </a:p>
        </p:txBody>
      </p:sp>
      <p:sp>
        <p:nvSpPr>
          <p:cNvPr id="7" name="TextBox 6"/>
          <p:cNvSpPr txBox="1"/>
          <p:nvPr/>
        </p:nvSpPr>
        <p:spPr>
          <a:xfrm>
            <a:off x="914400" y="8366760"/>
            <a:ext cx="7315200" cy="365760"/>
          </a:xfrm>
          <a:prstGeom prst="rect">
            <a:avLst/>
          </a:prstGeom>
          <a:noFill/>
        </p:spPr>
        <p:txBody>
          <a:bodyPr wrap="square">
            <a:spAutoFit/>
          </a:bodyPr>
          <a:lstStyle/>
          <a:p>
            <a:r>
              <a:rPr sz="1100" i="0" b="0">
                <a:solidFill>
                  <a:srgbClr val="8A8F9A"/>
                </a:solidFill>
                <a:latin typeface="Inter"/>
              </a:rPr>
              <a:t>Source: Reuters / TechCrunch, 17-18 Jun 2026</a:t>
            </a:r>
          </a:p>
        </p:txBody>
      </p:sp>
      <p:sp>
        <p:nvSpPr>
          <p:cNvPr id="8" name="Diamond 7"/>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THE TAKEAWAY</a:t>
            </a:r>
          </a:p>
        </p:txBody>
      </p:sp>
      <p:sp>
        <p:nvSpPr>
          <p:cNvPr id="4" name="TextBox 3"/>
          <p:cNvSpPr txBox="1"/>
          <p:nvPr/>
        </p:nvSpPr>
        <p:spPr>
          <a:xfrm>
            <a:off x="914400" y="2743200"/>
            <a:ext cx="8503920" cy="2377440"/>
          </a:xfrm>
          <a:prstGeom prst="rect">
            <a:avLst/>
          </a:prstGeom>
          <a:noFill/>
        </p:spPr>
        <p:txBody>
          <a:bodyPr wrap="square" anchor="b">
            <a:spAutoFit/>
          </a:bodyPr>
          <a:lstStyle/>
          <a:p>
            <a:pPr algn="l">
              <a:lnSpc>
                <a:spcPct val="105000"/>
              </a:lnSpc>
            </a:pPr>
            <a:r>
              <a:rPr sz="4000" i="0" b="0">
                <a:solidFill>
                  <a:srgbClr val="FEFEFE"/>
                </a:solidFill>
                <a:latin typeface="Instrument Serif"/>
              </a:rPr>
              <a:t>Own the loop, or rent the </a:t>
            </a:r>
            <a:r>
              <a:rPr sz="4000" i="1" b="0">
                <a:solidFill>
                  <a:srgbClr val="10B77F"/>
                </a:solidFill>
                <a:latin typeface="Instrument Serif"/>
              </a:rPr>
              <a:t>edge</a:t>
            </a:r>
            <a:r>
              <a:rPr sz="4000" i="0" b="0">
                <a:solidFill>
                  <a:srgbClr val="FEFEFE"/>
                </a:solidFill>
                <a:latin typeface="Instrument Serif"/>
              </a:rPr>
              <a:t>.</a:t>
            </a:r>
          </a:p>
        </p:txBody>
      </p:sp>
      <p:sp>
        <p:nvSpPr>
          <p:cNvPr id="5" name="TextBox 4"/>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E6E8EC"/>
                </a:solidFill>
                <a:latin typeface="Inter"/>
              </a:rPr>
              <a:t>Inference you control. Memory that learns from itself. Talent that can ship. Three different headlines, one signal. The moat is no longer the biggest model. It is the tightest loop. Renting capability does not compound. An operating model you own does.</a:t>
            </a:r>
          </a:p>
        </p:txBody>
      </p:sp>
      <p:sp>
        <p:nvSpPr>
          <p:cNvPr id="6" name="Diamond 5"/>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0E18"/>
        </a:solidFill>
        <a:effectLst/>
      </p:bgPr>
    </p:bg>
    <p:spTree>
      <p:nvGrpSpPr>
        <p:cNvPr id="1" name=""/>
        <p:cNvGrpSpPr/>
        <p:nvPr/>
      </p:nvGrpSpPr>
      <p:grpSpPr/>
      <p:sp>
        <p:nvSpPr>
          <p:cNvPr id="2" name="Rectangle 1"/>
          <p:cNvSpPr/>
          <p:nvPr/>
        </p:nvSpPr>
        <p:spPr>
          <a:xfrm>
            <a:off x="0" y="0"/>
            <a:ext cx="10287000" cy="10287000"/>
          </a:xfrm>
          <a:prstGeom prst="rect">
            <a:avLst/>
          </a:prstGeom>
          <a:solidFill>
            <a:srgbClr val="0C0E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77240"/>
            <a:ext cx="6858000" cy="548640"/>
          </a:xfrm>
          <a:prstGeom prst="rect">
            <a:avLst/>
          </a:prstGeom>
          <a:noFill/>
        </p:spPr>
        <p:txBody>
          <a:bodyPr wrap="square">
            <a:spAutoFit/>
          </a:bodyPr>
          <a:lstStyle/>
          <a:p>
            <a:r>
              <a:rPr sz="1500" i="0" b="1" spc="300">
                <a:solidFill>
                  <a:srgbClr val="10B77F"/>
                </a:solidFill>
                <a:latin typeface="Inter"/>
              </a:rPr>
              <a:t>AUGMENTED TEAM</a:t>
            </a:r>
          </a:p>
        </p:txBody>
      </p:sp>
      <p:sp>
        <p:nvSpPr>
          <p:cNvPr id="4" name="TextBox 3"/>
          <p:cNvSpPr txBox="1"/>
          <p:nvPr/>
        </p:nvSpPr>
        <p:spPr>
          <a:xfrm>
            <a:off x="914400" y="2743200"/>
            <a:ext cx="8503920" cy="2377440"/>
          </a:xfrm>
          <a:prstGeom prst="rect">
            <a:avLst/>
          </a:prstGeom>
          <a:noFill/>
        </p:spPr>
        <p:txBody>
          <a:bodyPr wrap="square" anchor="b">
            <a:spAutoFit/>
          </a:bodyPr>
          <a:lstStyle/>
          <a:p>
            <a:pPr algn="l">
              <a:lnSpc>
                <a:spcPct val="105000"/>
              </a:lnSpc>
            </a:pPr>
            <a:r>
              <a:rPr sz="5200" i="0" b="0">
                <a:solidFill>
                  <a:srgbClr val="FEFEFE"/>
                </a:solidFill>
                <a:latin typeface="Instrument Serif"/>
              </a:rPr>
              <a:t>We install the </a:t>
            </a:r>
            <a:r>
              <a:rPr sz="5200" i="1" b="0">
                <a:solidFill>
                  <a:srgbClr val="10B77F"/>
                </a:solidFill>
                <a:latin typeface="Instrument Serif"/>
              </a:rPr>
              <a:t>compounding edge</a:t>
            </a:r>
            <a:r>
              <a:rPr sz="5200" i="0" b="0">
                <a:solidFill>
                  <a:srgbClr val="FEFEFE"/>
                </a:solidFill>
                <a:latin typeface="Instrument Serif"/>
              </a:rPr>
              <a:t>.</a:t>
            </a:r>
          </a:p>
        </p:txBody>
      </p:sp>
      <p:sp>
        <p:nvSpPr>
          <p:cNvPr id="5" name="TextBox 4"/>
          <p:cNvSpPr txBox="1"/>
          <p:nvPr/>
        </p:nvSpPr>
        <p:spPr>
          <a:xfrm>
            <a:off x="914400" y="5852160"/>
            <a:ext cx="8138160" cy="2194560"/>
          </a:xfrm>
          <a:prstGeom prst="rect">
            <a:avLst/>
          </a:prstGeom>
          <a:noFill/>
        </p:spPr>
        <p:txBody>
          <a:bodyPr wrap="square">
            <a:spAutoFit/>
          </a:bodyPr>
          <a:lstStyle/>
          <a:p>
            <a:pPr algn="l">
              <a:lnSpc>
                <a:spcPct val="140000"/>
              </a:lnSpc>
            </a:pPr>
            <a:r>
              <a:rPr sz="1800" i="0" b="0">
                <a:solidFill>
                  <a:srgbClr val="E6E8EC"/>
                </a:solidFill>
                <a:latin typeface="Inter"/>
              </a:rPr>
              <a:t>Build the loop. Own the capability. Compound the advantage. Follow for next week's edition of This Week in AI.</a:t>
            </a:r>
          </a:p>
        </p:txBody>
      </p:sp>
      <p:sp>
        <p:nvSpPr>
          <p:cNvPr id="6" name="Diamond 5"/>
          <p:cNvSpPr/>
          <p:nvPr/>
        </p:nvSpPr>
        <p:spPr>
          <a:xfrm>
            <a:off x="914400" y="9116568"/>
            <a:ext cx="219456" cy="219456"/>
          </a:xfrm>
          <a:prstGeom prst="diamond">
            <a:avLst/>
          </a:prstGeom>
          <a:solidFill>
            <a:srgbClr val="10B7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61872" y="8997696"/>
            <a:ext cx="3657600" cy="457200"/>
          </a:xfrm>
          <a:prstGeom prst="rect">
            <a:avLst/>
          </a:prstGeom>
          <a:noFill/>
        </p:spPr>
        <p:txBody>
          <a:bodyPr wrap="square">
            <a:spAutoFit/>
          </a:bodyPr>
          <a:lstStyle/>
          <a:p>
            <a:r>
              <a:rPr sz="1600" i="0" b="1">
                <a:solidFill>
                  <a:srgbClr val="FEFEFE"/>
                </a:solidFill>
                <a:latin typeface="Inter"/>
              </a:rPr>
              <a:t>Augmented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
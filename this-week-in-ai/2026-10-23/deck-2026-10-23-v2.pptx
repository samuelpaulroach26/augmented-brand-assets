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THIS WEEK 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800100"/>
            <a:ext cx="1866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9AA0AC"/>
                </a:solidFill>
                <a:latin typeface="Inter"/>
              </a:rPr>
              <a:t>16-23 Oct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Swipe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885825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24000" y="87391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7900" y="86106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84724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95700" y="832485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9600" y="81676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43500" y="80010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67400" y="78247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91300" y="763905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74437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9100" y="72390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63000" y="70246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1714500"/>
            <a:ext cx="86868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9600" b="0">
                <a:solidFill>
                  <a:srgbClr val="FFFFFF"/>
                </a:solidFill>
                <a:latin typeface="Instrument Serif"/>
              </a:rPr>
              <a:t>Rent the model.
</a:t>
            </a:r>
            <a:r>
              <a:rPr sz="9600" b="0" i="1">
                <a:solidFill>
                  <a:srgbClr val="10B77F"/>
                </a:solidFill>
                <a:latin typeface="Instrument Serif"/>
              </a:rPr>
              <a:t>Own</a:t>
            </a:r>
            <a:r>
              <a:rPr sz="9600" b="0">
                <a:solidFill>
                  <a:srgbClr val="FFFFFF"/>
                </a:solidFill>
                <a:latin typeface="Instrument Serif"/>
              </a:rPr>
              <a:t> the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5905500"/>
            <a:ext cx="7810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200" b="0">
                <a:solidFill>
                  <a:srgbClr val="C7CAD2"/>
                </a:solidFill>
                <a:latin typeface="Instrument Serif"/>
              </a:rPr>
              <a:t>Three moves from this week that point the same way.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800100"/>
            <a:ext cx="1866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9AA0AC"/>
                </a:solidFill>
                <a:latin typeface="Inter"/>
              </a:rPr>
              <a:t>01/03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Source: IBTimes SG, 22 Oct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809750"/>
            <a:ext cx="86868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900" b="0">
                <a:solidFill>
                  <a:srgbClr val="FFFFFF"/>
                </a:solidFill>
                <a:latin typeface="Instrument Serif"/>
              </a:rPr>
              <a:t>OpenAI walks into </a:t>
            </a:r>
            <a:r>
              <a:rPr sz="6900" b="0" i="1">
                <a:solidFill>
                  <a:srgbClr val="10B77F"/>
                </a:solidFill>
                <a:latin typeface="Instrument Serif"/>
              </a:rPr>
              <a:t>Google's</a:t>
            </a:r>
            <a:r>
              <a:rPr sz="6900" b="0">
                <a:solidFill>
                  <a:srgbClr val="FFFFFF"/>
                </a:solidFill>
                <a:latin typeface="Instrument Serif"/>
              </a:rPr>
              <a:t>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5619750"/>
            <a:ext cx="81915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550" b="0">
                <a:solidFill>
                  <a:srgbClr val="C7CAD2"/>
                </a:solidFill>
                <a:latin typeface="Inter"/>
              </a:rPr>
              <a:t>OpenAI's frontier models and Codex agent workflows are coming to Google Cloud's Model Garden and Marketplace. Every big model is now one procurement click from every big cloud.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8191500"/>
            <a:ext cx="5334000" cy="666750"/>
          </a:xfrm>
          <a:prstGeom prst="rect">
            <a:avLst/>
          </a:prstGeom>
          <a:solidFill>
            <a:srgbClr val="0E2A2A"/>
          </a:solidFill>
          <a:ln w="19050">
            <a:solidFill>
              <a:srgbClr val="10B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50" y="8382000"/>
            <a:ext cx="495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>
                <a:solidFill>
                  <a:srgbClr val="10B77F"/>
                </a:solidFill>
                <a:latin typeface="Inter"/>
              </a:rPr>
              <a:t>Oct 22 · Models now multi-cloud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800100"/>
            <a:ext cx="1866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9AA0AC"/>
                </a:solidFill>
                <a:latin typeface="Inter"/>
              </a:rPr>
              <a:t>02/03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Source: Engadget, AI Weekly, 22 Oct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809750"/>
            <a:ext cx="86868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900" b="0">
                <a:solidFill>
                  <a:srgbClr val="FFFFFF"/>
                </a:solidFill>
                <a:latin typeface="Instrument Serif"/>
              </a:rPr>
              <a:t>Claude gets a </a:t>
            </a:r>
            <a:r>
              <a:rPr sz="6900" b="0" i="1">
                <a:solidFill>
                  <a:srgbClr val="10B77F"/>
                </a:solidFill>
                <a:latin typeface="Instrument Serif"/>
              </a:rPr>
              <a:t>shift</a:t>
            </a:r>
            <a:r>
              <a:rPr sz="6900" b="0">
                <a:solidFill>
                  <a:srgbClr val="FFFFFF"/>
                </a:solidFill>
                <a:latin typeface="Instrument Serif"/>
              </a:rPr>
              <a:t> of its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5619750"/>
            <a:ext cx="81915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550" b="0">
                <a:solidFill>
                  <a:srgbClr val="C7CAD2"/>
                </a:solidFill>
                <a:latin typeface="Inter"/>
              </a:rPr>
              <a:t>Anthropic opened a waitlist for Claude Duet, an Opus 5.5 agent that briefs you each morning, works between messages, and only pings when a decision is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8191500"/>
            <a:ext cx="5334000" cy="666750"/>
          </a:xfrm>
          <a:prstGeom prst="rect">
            <a:avLst/>
          </a:prstGeom>
          <a:solidFill>
            <a:srgbClr val="0E2A2A"/>
          </a:solidFill>
          <a:ln w="19050">
            <a:solidFill>
              <a:srgbClr val="10B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50" y="8382000"/>
            <a:ext cx="495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>
                <a:solidFill>
                  <a:srgbClr val="10B77F"/>
                </a:solidFill>
                <a:latin typeface="Inter"/>
              </a:rPr>
              <a:t>Oct 22 · US Pro and Max waitlist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800100"/>
            <a:ext cx="1866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9AA0AC"/>
                </a:solidFill>
                <a:latin typeface="Inter"/>
              </a:rPr>
              <a:t>03/03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Source: anthropic.com/news, 22 Oct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809750"/>
            <a:ext cx="86868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900" b="0">
                <a:solidFill>
                  <a:srgbClr val="FFFFFF"/>
                </a:solidFill>
                <a:latin typeface="Instrument Serif"/>
              </a:rPr>
              <a:t>Anthropic gives away the </a:t>
            </a:r>
            <a:r>
              <a:rPr sz="6900" b="0" i="1">
                <a:solidFill>
                  <a:srgbClr val="10B77F"/>
                </a:solidFill>
                <a:latin typeface="Instrument Serif"/>
              </a:rPr>
              <a:t>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5619750"/>
            <a:ext cx="81915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550" b="0">
                <a:solidFill>
                  <a:srgbClr val="C7CAD2"/>
                </a:solidFill>
                <a:latin typeface="Inter"/>
              </a:rPr>
              <a:t>Agent Skills, the open standard for packaging how work gets done, is being donated to the Agentic AI Foundation. 70+ agent platforms already support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8191500"/>
            <a:ext cx="5334000" cy="666750"/>
          </a:xfrm>
          <a:prstGeom prst="rect">
            <a:avLst/>
          </a:prstGeom>
          <a:solidFill>
            <a:srgbClr val="0E2A2A"/>
          </a:solidFill>
          <a:ln w="19050">
            <a:solidFill>
              <a:srgbClr val="10B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50" y="8382000"/>
            <a:ext cx="4953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>
                <a:solidFill>
                  <a:srgbClr val="10B77F"/>
                </a:solidFill>
                <a:latin typeface="Inter"/>
              </a:rPr>
              <a:t>Oct 22 · 70+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THE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Own your AI operating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809750"/>
            <a:ext cx="86868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900" b="0">
                <a:solidFill>
                  <a:srgbClr val="FFFFFF"/>
                </a:solidFill>
                <a:latin typeface="Instrument Serif"/>
              </a:rPr>
              <a:t>Models are a </a:t>
            </a:r>
            <a:r>
              <a:rPr sz="6900" b="0" i="1">
                <a:solidFill>
                  <a:srgbClr val="10B77F"/>
                </a:solidFill>
                <a:latin typeface="Instrument Serif"/>
              </a:rPr>
              <a:t>commodity</a:t>
            </a:r>
            <a:r>
              <a:rPr sz="6900" b="0">
                <a:solidFill>
                  <a:srgbClr val="FFFFFF"/>
                </a:solidFill>
                <a:latin typeface="Instrument Serif"/>
              </a:rPr>
              <a:t>. Your loop is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5619750"/>
            <a:ext cx="81915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550" b="0">
                <a:solidFill>
                  <a:srgbClr val="C7CAD2"/>
                </a:solidFill>
                <a:latin typeface="Inter"/>
              </a:rPr>
              <a:t>Any model, any cloud, any agent. What stays yours is the skills, the context and the workflows you build on top. That is where human capital and token capital compound.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10B77F"/>
                </a:solidFill>
                <a:latin typeface="Inter"/>
              </a:rPr>
              <a:t>AUGMENTED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" y="9334500"/>
            <a:ext cx="8686800" cy="19050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9582150"/>
            <a:ext cx="476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10B77F"/>
                </a:solidFill>
                <a:latin typeface="Inter"/>
              </a:rPr>
              <a:t>◆ </a:t>
            </a:r>
            <a:r>
              <a:rPr sz="1650" b="0">
                <a:solidFill>
                  <a:srgbClr val="9AA0AC"/>
                </a:solidFill>
                <a:latin typeface="Inter"/>
              </a:rPr>
              <a:t>Augmented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0" y="9582150"/>
            <a:ext cx="4724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0">
                <a:solidFill>
                  <a:srgbClr val="9AA0AC"/>
                </a:solidFill>
                <a:latin typeface="Inter"/>
              </a:rPr>
              <a:t>Follow for next 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" y="885825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" y="87391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47900" y="86106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84724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95700" y="832485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9600" y="81676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3500" y="80010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67400" y="78247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91300" y="763905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74437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9100" y="7239000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63000" y="7024687"/>
            <a:ext cx="571500" cy="28575"/>
          </a:xfrm>
          <a:prstGeom prst="rect">
            <a:avLst/>
          </a:prstGeom>
          <a:solidFill>
            <a:srgbClr val="10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" y="1714500"/>
            <a:ext cx="86868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8700" b="0">
                <a:solidFill>
                  <a:srgbClr val="FFFFFF"/>
                </a:solidFill>
                <a:latin typeface="Instrument Serif"/>
              </a:rPr>
              <a:t>We install the </a:t>
            </a:r>
            <a:r>
              <a:rPr sz="8700" b="0" i="1">
                <a:solidFill>
                  <a:srgbClr val="10B77F"/>
                </a:solidFill>
                <a:latin typeface="Instrument Serif"/>
              </a:rPr>
              <a:t>compounding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6096000"/>
            <a:ext cx="7810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200" b="0">
                <a:solidFill>
                  <a:srgbClr val="C7CAD2"/>
                </a:solidFill>
                <a:latin typeface="Instrument Serif"/>
              </a:rPr>
              <a:t>Follow for next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
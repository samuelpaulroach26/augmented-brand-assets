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0287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0100" y="800100"/>
            <a:ext cx="5715000" cy="381000"/>
          </a:xfrm>
          <a:prstGeom prst="rect">
            <a:avLst/>
          </a:prstGeom>
          <a:noFill/>
        </p:spPr>
        <p:txBody>
          <a:bodyPr wrap="square" anchor="t" lIns="0" rIns="0" tIns="0" bIns="0">
            <a:spAutoFit/>
          </a:bodyPr>
          <a:lstStyle/>
          <a:p>
            <a:r>
              <a:rPr sz="1800" b="1">
                <a:solidFill>
                  <a:srgbClr val="10B77F"/>
                </a:solidFill>
                <a:latin typeface="Inter"/>
              </a:rPr>
              <a:t>THIS WEEK IN AI</a:t>
            </a:r>
          </a:p>
        </p:txBody>
      </p:sp>
      <p:sp>
        <p:nvSpPr>
          <p:cNvPr id="4" name="TextBox 3"/>
          <p:cNvSpPr txBox="1"/>
          <p:nvPr/>
        </p:nvSpPr>
        <p:spPr>
          <a:xfrm>
            <a:off x="7620000" y="800100"/>
            <a:ext cx="1866900" cy="381000"/>
          </a:xfrm>
          <a:prstGeom prst="rect">
            <a:avLst/>
          </a:prstGeom>
          <a:noFill/>
        </p:spPr>
        <p:txBody>
          <a:bodyPr wrap="square" anchor="t" lIns="0" rIns="0" tIns="0" bIns="0">
            <a:spAutoFit/>
          </a:bodyPr>
          <a:lstStyle/>
          <a:p>
            <a:r>
              <a:rPr sz="1800" b="1">
                <a:solidFill>
                  <a:srgbClr val="9AA0AC"/>
                </a:solidFill>
                <a:latin typeface="Inter"/>
              </a:rPr>
              <a:t>23-30 Oct 2026</a:t>
            </a:r>
          </a:p>
        </p:txBody>
      </p:sp>
      <p:sp>
        <p:nvSpPr>
          <p:cNvPr id="5" name="Rectangle 4"/>
          <p:cNvSpPr/>
          <p:nvPr/>
        </p:nvSpPr>
        <p:spPr>
          <a:xfrm>
            <a:off x="800100" y="9334500"/>
            <a:ext cx="86868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9582150"/>
            <a:ext cx="4762500" cy="285750"/>
          </a:xfrm>
          <a:prstGeom prst="rect">
            <a:avLst/>
          </a:prstGeom>
          <a:noFill/>
        </p:spPr>
        <p:txBody>
          <a:bodyPr wrap="square" anchor="t" lIns="0" rIns="0" tIns="0" bIns="0">
            <a:spAutoFit/>
          </a:bodyPr>
          <a:lstStyle/>
          <a:p>
            <a:r>
              <a:rPr sz="1650" b="0">
                <a:solidFill>
                  <a:srgbClr val="10B77F"/>
                </a:solidFill>
                <a:latin typeface="Inter"/>
              </a:rPr>
              <a:t>◆ </a:t>
            </a:r>
            <a:r>
              <a:rPr sz="1650" b="0">
                <a:solidFill>
                  <a:srgbClr val="9AA0AC"/>
                </a:solidFill>
                <a:latin typeface="Inter"/>
              </a:rPr>
              <a:t>Augmented Team</a:t>
            </a:r>
          </a:p>
        </p:txBody>
      </p:sp>
      <p:sp>
        <p:nvSpPr>
          <p:cNvPr id="7" name="TextBox 6"/>
          <p:cNvSpPr txBox="1"/>
          <p:nvPr/>
        </p:nvSpPr>
        <p:spPr>
          <a:xfrm>
            <a:off x="4762500" y="9582150"/>
            <a:ext cx="4724400" cy="285750"/>
          </a:xfrm>
          <a:prstGeom prst="rect">
            <a:avLst/>
          </a:prstGeom>
          <a:noFill/>
        </p:spPr>
        <p:txBody>
          <a:bodyPr wrap="square" anchor="t" lIns="0" rIns="0" tIns="0" bIns="0">
            <a:spAutoFit/>
          </a:bodyPr>
          <a:lstStyle/>
          <a:p>
            <a:r>
              <a:rPr sz="1650" b="0">
                <a:solidFill>
                  <a:srgbClr val="9AA0AC"/>
                </a:solidFill>
                <a:latin typeface="Inter"/>
              </a:rPr>
              <a:t>Swipe →</a:t>
            </a:r>
          </a:p>
        </p:txBody>
      </p:sp>
      <p:sp>
        <p:nvSpPr>
          <p:cNvPr id="8" name="Rectangle 7"/>
          <p:cNvSpPr/>
          <p:nvPr/>
        </p:nvSpPr>
        <p:spPr>
          <a:xfrm>
            <a:off x="800100" y="885825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4000" y="87391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47900" y="861060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84724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95700" y="832485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9600" y="81676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43500" y="800100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67400" y="78247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91300" y="763905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0" y="74437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9100" y="723900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63000" y="70246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 y="1714500"/>
            <a:ext cx="8686800" cy="3810000"/>
          </a:xfrm>
          <a:prstGeom prst="rect">
            <a:avLst/>
          </a:prstGeom>
          <a:noFill/>
        </p:spPr>
        <p:txBody>
          <a:bodyPr wrap="square" anchor="t" lIns="0" rIns="0" tIns="0" bIns="0">
            <a:spAutoFit/>
          </a:bodyPr>
          <a:lstStyle/>
          <a:p>
            <a:pPr>
              <a:lnSpc>
                <a:spcPct val="95000"/>
              </a:lnSpc>
            </a:pPr>
            <a:r>
              <a:rPr sz="9600" b="0">
                <a:solidFill>
                  <a:srgbClr val="FFFFFF"/>
                </a:solidFill>
                <a:latin typeface="Instrument Serif"/>
              </a:rPr>
              <a:t>Tokens fall.
The </a:t>
            </a:r>
            <a:r>
              <a:rPr sz="9600" b="0" i="1">
                <a:solidFill>
                  <a:srgbClr val="10B77F"/>
                </a:solidFill>
                <a:latin typeface="Instrument Serif"/>
              </a:rPr>
              <a:t>loop</a:t>
            </a:r>
            <a:r>
              <a:rPr sz="9600" b="0">
                <a:solidFill>
                  <a:srgbClr val="FFFFFF"/>
                </a:solidFill>
                <a:latin typeface="Instrument Serif"/>
              </a:rPr>
              <a:t> compounds.</a:t>
            </a:r>
          </a:p>
        </p:txBody>
      </p:sp>
      <p:sp>
        <p:nvSpPr>
          <p:cNvPr id="21" name="TextBox 20"/>
          <p:cNvSpPr txBox="1"/>
          <p:nvPr/>
        </p:nvSpPr>
        <p:spPr>
          <a:xfrm>
            <a:off x="800100" y="5905500"/>
            <a:ext cx="7810500" cy="1143000"/>
          </a:xfrm>
          <a:prstGeom prst="rect">
            <a:avLst/>
          </a:prstGeom>
          <a:noFill/>
        </p:spPr>
        <p:txBody>
          <a:bodyPr wrap="square" anchor="t" lIns="0" rIns="0" tIns="0" bIns="0">
            <a:spAutoFit/>
          </a:bodyPr>
          <a:lstStyle/>
          <a:p>
            <a:pPr>
              <a:lnSpc>
                <a:spcPct val="100000"/>
              </a:lnSpc>
            </a:pPr>
            <a:r>
              <a:rPr sz="4200" b="0">
                <a:solidFill>
                  <a:srgbClr val="C7CAD2"/>
                </a:solidFill>
                <a:latin typeface="Instrument Serif"/>
              </a:rPr>
              <a:t>Three moves from this week that point the same 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0100" y="800100"/>
            <a:ext cx="5715000" cy="381000"/>
          </a:xfrm>
          <a:prstGeom prst="rect">
            <a:avLst/>
          </a:prstGeom>
          <a:noFill/>
        </p:spPr>
        <p:txBody>
          <a:bodyPr wrap="square" anchor="t" lIns="0" rIns="0" tIns="0" bIns="0">
            <a:spAutoFit/>
          </a:bodyPr>
          <a:lstStyle/>
          <a:p>
            <a:r>
              <a:rPr sz="1800" b="1">
                <a:solidFill>
                  <a:srgbClr val="10B77F"/>
                </a:solidFill>
                <a:latin typeface="Inter"/>
              </a:rPr>
              <a:t>MARKETS</a:t>
            </a:r>
          </a:p>
        </p:txBody>
      </p:sp>
      <p:sp>
        <p:nvSpPr>
          <p:cNvPr id="4" name="TextBox 3"/>
          <p:cNvSpPr txBox="1"/>
          <p:nvPr/>
        </p:nvSpPr>
        <p:spPr>
          <a:xfrm>
            <a:off x="7620000" y="800100"/>
            <a:ext cx="1866900" cy="381000"/>
          </a:xfrm>
          <a:prstGeom prst="rect">
            <a:avLst/>
          </a:prstGeom>
          <a:noFill/>
        </p:spPr>
        <p:txBody>
          <a:bodyPr wrap="square" anchor="t" lIns="0" rIns="0" tIns="0" bIns="0">
            <a:spAutoFit/>
          </a:bodyPr>
          <a:lstStyle/>
          <a:p>
            <a:r>
              <a:rPr sz="1800" b="1">
                <a:solidFill>
                  <a:srgbClr val="9AA0AC"/>
                </a:solidFill>
                <a:latin typeface="Inter"/>
              </a:rPr>
              <a:t>01/03</a:t>
            </a:r>
          </a:p>
        </p:txBody>
      </p:sp>
      <p:sp>
        <p:nvSpPr>
          <p:cNvPr id="5" name="Rectangle 4"/>
          <p:cNvSpPr/>
          <p:nvPr/>
        </p:nvSpPr>
        <p:spPr>
          <a:xfrm>
            <a:off x="800100" y="9334500"/>
            <a:ext cx="86868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9582150"/>
            <a:ext cx="4762500" cy="285750"/>
          </a:xfrm>
          <a:prstGeom prst="rect">
            <a:avLst/>
          </a:prstGeom>
          <a:noFill/>
        </p:spPr>
        <p:txBody>
          <a:bodyPr wrap="square" anchor="t" lIns="0" rIns="0" tIns="0" bIns="0">
            <a:spAutoFit/>
          </a:bodyPr>
          <a:lstStyle/>
          <a:p>
            <a:r>
              <a:rPr sz="1650" b="0">
                <a:solidFill>
                  <a:srgbClr val="10B77F"/>
                </a:solidFill>
                <a:latin typeface="Inter"/>
              </a:rPr>
              <a:t>◆ </a:t>
            </a:r>
            <a:r>
              <a:rPr sz="1650" b="0">
                <a:solidFill>
                  <a:srgbClr val="9AA0AC"/>
                </a:solidFill>
                <a:latin typeface="Inter"/>
              </a:rPr>
              <a:t>Augmented Team</a:t>
            </a:r>
          </a:p>
        </p:txBody>
      </p:sp>
      <p:sp>
        <p:nvSpPr>
          <p:cNvPr id="7" name="TextBox 6"/>
          <p:cNvSpPr txBox="1"/>
          <p:nvPr/>
        </p:nvSpPr>
        <p:spPr>
          <a:xfrm>
            <a:off x="4762500" y="9582150"/>
            <a:ext cx="4724400" cy="285750"/>
          </a:xfrm>
          <a:prstGeom prst="rect">
            <a:avLst/>
          </a:prstGeom>
          <a:noFill/>
        </p:spPr>
        <p:txBody>
          <a:bodyPr wrap="square" anchor="t" lIns="0" rIns="0" tIns="0" bIns="0">
            <a:spAutoFit/>
          </a:bodyPr>
          <a:lstStyle/>
          <a:p>
            <a:r>
              <a:rPr sz="1650" b="0">
                <a:solidFill>
                  <a:srgbClr val="9AA0AC"/>
                </a:solidFill>
                <a:latin typeface="Inter"/>
              </a:rPr>
              <a:t>Source: CNBC, 28 Oct</a:t>
            </a:r>
          </a:p>
        </p:txBody>
      </p:sp>
      <p:sp>
        <p:nvSpPr>
          <p:cNvPr id="8" name="TextBox 7"/>
          <p:cNvSpPr txBox="1"/>
          <p:nvPr/>
        </p:nvSpPr>
        <p:spPr>
          <a:xfrm>
            <a:off x="800100" y="1809750"/>
            <a:ext cx="8686800" cy="3429000"/>
          </a:xfrm>
          <a:prstGeom prst="rect">
            <a:avLst/>
          </a:prstGeom>
          <a:noFill/>
        </p:spPr>
        <p:txBody>
          <a:bodyPr wrap="square" anchor="t" lIns="0" rIns="0" tIns="0" bIns="0">
            <a:spAutoFit/>
          </a:bodyPr>
          <a:lstStyle/>
          <a:p>
            <a:pPr>
              <a:lnSpc>
                <a:spcPct val="95000"/>
              </a:lnSpc>
            </a:pPr>
            <a:r>
              <a:rPr sz="6900" b="0">
                <a:solidFill>
                  <a:srgbClr val="FFFFFF"/>
                </a:solidFill>
                <a:latin typeface="Instrument Serif"/>
              </a:rPr>
              <a:t>Google spends </a:t>
            </a:r>
            <a:r>
              <a:rPr sz="6900" b="0" i="1">
                <a:solidFill>
                  <a:srgbClr val="10B77F"/>
                </a:solidFill>
                <a:latin typeface="Instrument Serif"/>
              </a:rPr>
              <a:t>$51B</a:t>
            </a:r>
            <a:r>
              <a:rPr sz="6900" b="0">
                <a:solidFill>
                  <a:srgbClr val="FFFFFF"/>
                </a:solidFill>
                <a:latin typeface="Instrument Serif"/>
              </a:rPr>
              <a:t> in a quarter</a:t>
            </a:r>
          </a:p>
        </p:txBody>
      </p:sp>
      <p:sp>
        <p:nvSpPr>
          <p:cNvPr id="9" name="TextBox 8"/>
          <p:cNvSpPr txBox="1"/>
          <p:nvPr/>
        </p:nvSpPr>
        <p:spPr>
          <a:xfrm>
            <a:off x="800100" y="5619750"/>
            <a:ext cx="8191500" cy="2095500"/>
          </a:xfrm>
          <a:prstGeom prst="rect">
            <a:avLst/>
          </a:prstGeom>
          <a:noFill/>
        </p:spPr>
        <p:txBody>
          <a:bodyPr wrap="square" anchor="t" lIns="0" rIns="0" tIns="0" bIns="0">
            <a:spAutoFit/>
          </a:bodyPr>
          <a:lstStyle/>
          <a:p>
            <a:pPr>
              <a:lnSpc>
                <a:spcPct val="130000"/>
              </a:lnSpc>
            </a:pPr>
            <a:r>
              <a:rPr sz="2550" b="0">
                <a:solidFill>
                  <a:srgbClr val="C7CAD2"/>
                </a:solidFill>
                <a:latin typeface="Inter"/>
              </a:rPr>
              <a:t>Alphabet burned $9.07B of free cash flow in Q3 and held 2026 capex at $195B to $205B. Shares fell more than 10% after hours. Someone is paying for the compute you rent.</a:t>
            </a:r>
          </a:p>
        </p:txBody>
      </p:sp>
      <p:sp>
        <p:nvSpPr>
          <p:cNvPr id="10" name="Rectangle 9"/>
          <p:cNvSpPr/>
          <p:nvPr/>
        </p:nvSpPr>
        <p:spPr>
          <a:xfrm>
            <a:off x="800100" y="8191500"/>
            <a:ext cx="5334000" cy="666750"/>
          </a:xfrm>
          <a:prstGeom prst="rect">
            <a:avLst/>
          </a:prstGeom>
          <a:solidFill>
            <a:srgbClr val="0E2A2A"/>
          </a:solidFill>
          <a:ln w="19050">
            <a:solidFill>
              <a:srgbClr val="10B7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8382000"/>
            <a:ext cx="4953000" cy="381000"/>
          </a:xfrm>
          <a:prstGeom prst="rect">
            <a:avLst/>
          </a:prstGeom>
          <a:noFill/>
        </p:spPr>
        <p:txBody>
          <a:bodyPr wrap="square" anchor="t" lIns="0" rIns="0" tIns="0" bIns="0">
            <a:spAutoFit/>
          </a:bodyPr>
          <a:lstStyle/>
          <a:p>
            <a:r>
              <a:rPr sz="1950" b="1">
                <a:solidFill>
                  <a:srgbClr val="10B77F"/>
                </a:solidFill>
                <a:latin typeface="Inter"/>
              </a:rPr>
              <a:t>Oct 28 · Free cash flow -$9.07B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0100" y="800100"/>
            <a:ext cx="5715000" cy="381000"/>
          </a:xfrm>
          <a:prstGeom prst="rect">
            <a:avLst/>
          </a:prstGeom>
          <a:noFill/>
        </p:spPr>
        <p:txBody>
          <a:bodyPr wrap="square" anchor="t" lIns="0" rIns="0" tIns="0" bIns="0">
            <a:spAutoFit/>
          </a:bodyPr>
          <a:lstStyle/>
          <a:p>
            <a:r>
              <a:rPr sz="1800" b="1">
                <a:solidFill>
                  <a:srgbClr val="10B77F"/>
                </a:solidFill>
                <a:latin typeface="Inter"/>
              </a:rPr>
              <a:t>MODELS</a:t>
            </a:r>
          </a:p>
        </p:txBody>
      </p:sp>
      <p:sp>
        <p:nvSpPr>
          <p:cNvPr id="4" name="TextBox 3"/>
          <p:cNvSpPr txBox="1"/>
          <p:nvPr/>
        </p:nvSpPr>
        <p:spPr>
          <a:xfrm>
            <a:off x="7620000" y="800100"/>
            <a:ext cx="1866900" cy="381000"/>
          </a:xfrm>
          <a:prstGeom prst="rect">
            <a:avLst/>
          </a:prstGeom>
          <a:noFill/>
        </p:spPr>
        <p:txBody>
          <a:bodyPr wrap="square" anchor="t" lIns="0" rIns="0" tIns="0" bIns="0">
            <a:spAutoFit/>
          </a:bodyPr>
          <a:lstStyle/>
          <a:p>
            <a:r>
              <a:rPr sz="1800" b="1">
                <a:solidFill>
                  <a:srgbClr val="9AA0AC"/>
                </a:solidFill>
                <a:latin typeface="Inter"/>
              </a:rPr>
              <a:t>02/03</a:t>
            </a:r>
          </a:p>
        </p:txBody>
      </p:sp>
      <p:sp>
        <p:nvSpPr>
          <p:cNvPr id="5" name="Rectangle 4"/>
          <p:cNvSpPr/>
          <p:nvPr/>
        </p:nvSpPr>
        <p:spPr>
          <a:xfrm>
            <a:off x="800100" y="9334500"/>
            <a:ext cx="86868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9582150"/>
            <a:ext cx="4762500" cy="285750"/>
          </a:xfrm>
          <a:prstGeom prst="rect">
            <a:avLst/>
          </a:prstGeom>
          <a:noFill/>
        </p:spPr>
        <p:txBody>
          <a:bodyPr wrap="square" anchor="t" lIns="0" rIns="0" tIns="0" bIns="0">
            <a:spAutoFit/>
          </a:bodyPr>
          <a:lstStyle/>
          <a:p>
            <a:r>
              <a:rPr sz="1650" b="0">
                <a:solidFill>
                  <a:srgbClr val="10B77F"/>
                </a:solidFill>
                <a:latin typeface="Inter"/>
              </a:rPr>
              <a:t>◆ </a:t>
            </a:r>
            <a:r>
              <a:rPr sz="1650" b="0">
                <a:solidFill>
                  <a:srgbClr val="9AA0AC"/>
                </a:solidFill>
                <a:latin typeface="Inter"/>
              </a:rPr>
              <a:t>Augmented Team</a:t>
            </a:r>
          </a:p>
        </p:txBody>
      </p:sp>
      <p:sp>
        <p:nvSpPr>
          <p:cNvPr id="7" name="TextBox 6"/>
          <p:cNvSpPr txBox="1"/>
          <p:nvPr/>
        </p:nvSpPr>
        <p:spPr>
          <a:xfrm>
            <a:off x="4762500" y="9582150"/>
            <a:ext cx="4724400" cy="285750"/>
          </a:xfrm>
          <a:prstGeom prst="rect">
            <a:avLst/>
          </a:prstGeom>
          <a:noFill/>
        </p:spPr>
        <p:txBody>
          <a:bodyPr wrap="square" anchor="t" lIns="0" rIns="0" tIns="0" bIns="0">
            <a:spAutoFit/>
          </a:bodyPr>
          <a:lstStyle/>
          <a:p>
            <a:r>
              <a:rPr sz="1650" b="0">
                <a:solidFill>
                  <a:srgbClr val="9AA0AC"/>
                </a:solidFill>
                <a:latin typeface="Inter"/>
              </a:rPr>
              <a:t>Source: The Decoder, 26 Oct</a:t>
            </a:r>
          </a:p>
        </p:txBody>
      </p:sp>
      <p:sp>
        <p:nvSpPr>
          <p:cNvPr id="8" name="TextBox 7"/>
          <p:cNvSpPr txBox="1"/>
          <p:nvPr/>
        </p:nvSpPr>
        <p:spPr>
          <a:xfrm>
            <a:off x="800100" y="1809750"/>
            <a:ext cx="8686800" cy="3429000"/>
          </a:xfrm>
          <a:prstGeom prst="rect">
            <a:avLst/>
          </a:prstGeom>
          <a:noFill/>
        </p:spPr>
        <p:txBody>
          <a:bodyPr wrap="square" anchor="t" lIns="0" rIns="0" tIns="0" bIns="0">
            <a:spAutoFit/>
          </a:bodyPr>
          <a:lstStyle/>
          <a:p>
            <a:pPr>
              <a:lnSpc>
                <a:spcPct val="95000"/>
              </a:lnSpc>
            </a:pPr>
            <a:r>
              <a:rPr sz="6900" b="0">
                <a:solidFill>
                  <a:srgbClr val="FFFFFF"/>
                </a:solidFill>
                <a:latin typeface="Instrument Serif"/>
              </a:rPr>
              <a:t>A model at </a:t>
            </a:r>
            <a:r>
              <a:rPr sz="6900" b="0" i="1">
                <a:solidFill>
                  <a:srgbClr val="10B77F"/>
                </a:solidFill>
                <a:latin typeface="Instrument Serif"/>
              </a:rPr>
              <a:t>half</a:t>
            </a:r>
            <a:r>
              <a:rPr sz="6900" b="0">
                <a:solidFill>
                  <a:srgbClr val="FFFFFF"/>
                </a:solidFill>
                <a:latin typeface="Instrument Serif"/>
              </a:rPr>
              <a:t> the price</a:t>
            </a:r>
          </a:p>
        </p:txBody>
      </p:sp>
      <p:sp>
        <p:nvSpPr>
          <p:cNvPr id="9" name="TextBox 8"/>
          <p:cNvSpPr txBox="1"/>
          <p:nvPr/>
        </p:nvSpPr>
        <p:spPr>
          <a:xfrm>
            <a:off x="800100" y="5619750"/>
            <a:ext cx="8191500" cy="2095500"/>
          </a:xfrm>
          <a:prstGeom prst="rect">
            <a:avLst/>
          </a:prstGeom>
          <a:noFill/>
        </p:spPr>
        <p:txBody>
          <a:bodyPr wrap="square" anchor="t" lIns="0" rIns="0" tIns="0" bIns="0">
            <a:spAutoFit/>
          </a:bodyPr>
          <a:lstStyle/>
          <a:p>
            <a:pPr>
              <a:lnSpc>
                <a:spcPct val="130000"/>
              </a:lnSpc>
            </a:pPr>
            <a:r>
              <a:rPr sz="2550" b="0">
                <a:solidFill>
                  <a:srgbClr val="C7CAD2"/>
                </a:solidFill>
                <a:latin typeface="Inter"/>
              </a:rPr>
              <a:t>OpenAI's GPT-6.1 Terra costs $1 per million input tokens and $5 output, half its predecessor. Artificial Analysis puts a task at $0.40 versus $1.40.</a:t>
            </a:r>
          </a:p>
        </p:txBody>
      </p:sp>
      <p:sp>
        <p:nvSpPr>
          <p:cNvPr id="10" name="Rectangle 9"/>
          <p:cNvSpPr/>
          <p:nvPr/>
        </p:nvSpPr>
        <p:spPr>
          <a:xfrm>
            <a:off x="800100" y="8191500"/>
            <a:ext cx="5334000" cy="666750"/>
          </a:xfrm>
          <a:prstGeom prst="rect">
            <a:avLst/>
          </a:prstGeom>
          <a:solidFill>
            <a:srgbClr val="0E2A2A"/>
          </a:solidFill>
          <a:ln w="19050">
            <a:solidFill>
              <a:srgbClr val="10B7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8382000"/>
            <a:ext cx="4953000" cy="381000"/>
          </a:xfrm>
          <a:prstGeom prst="rect">
            <a:avLst/>
          </a:prstGeom>
          <a:noFill/>
        </p:spPr>
        <p:txBody>
          <a:bodyPr wrap="square" anchor="t" lIns="0" rIns="0" tIns="0" bIns="0">
            <a:spAutoFit/>
          </a:bodyPr>
          <a:lstStyle/>
          <a:p>
            <a:r>
              <a:rPr sz="1950" b="1">
                <a:solidFill>
                  <a:srgbClr val="10B77F"/>
                </a:solidFill>
                <a:latin typeface="Inter"/>
              </a:rPr>
              <a:t>Oct 26 · 50% off API pricing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0100" y="800100"/>
            <a:ext cx="5715000" cy="381000"/>
          </a:xfrm>
          <a:prstGeom prst="rect">
            <a:avLst/>
          </a:prstGeom>
          <a:noFill/>
        </p:spPr>
        <p:txBody>
          <a:bodyPr wrap="square" anchor="t" lIns="0" rIns="0" tIns="0" bIns="0">
            <a:spAutoFit/>
          </a:bodyPr>
          <a:lstStyle/>
          <a:p>
            <a:r>
              <a:rPr sz="1800" b="1">
                <a:solidFill>
                  <a:srgbClr val="10B77F"/>
                </a:solidFill>
                <a:latin typeface="Inter"/>
              </a:rPr>
              <a:t>STRATEGY</a:t>
            </a:r>
          </a:p>
        </p:txBody>
      </p:sp>
      <p:sp>
        <p:nvSpPr>
          <p:cNvPr id="4" name="TextBox 3"/>
          <p:cNvSpPr txBox="1"/>
          <p:nvPr/>
        </p:nvSpPr>
        <p:spPr>
          <a:xfrm>
            <a:off x="7620000" y="800100"/>
            <a:ext cx="1866900" cy="381000"/>
          </a:xfrm>
          <a:prstGeom prst="rect">
            <a:avLst/>
          </a:prstGeom>
          <a:noFill/>
        </p:spPr>
        <p:txBody>
          <a:bodyPr wrap="square" anchor="t" lIns="0" rIns="0" tIns="0" bIns="0">
            <a:spAutoFit/>
          </a:bodyPr>
          <a:lstStyle/>
          <a:p>
            <a:r>
              <a:rPr sz="1800" b="1">
                <a:solidFill>
                  <a:srgbClr val="9AA0AC"/>
                </a:solidFill>
                <a:latin typeface="Inter"/>
              </a:rPr>
              <a:t>03/03</a:t>
            </a:r>
          </a:p>
        </p:txBody>
      </p:sp>
      <p:sp>
        <p:nvSpPr>
          <p:cNvPr id="5" name="Rectangle 4"/>
          <p:cNvSpPr/>
          <p:nvPr/>
        </p:nvSpPr>
        <p:spPr>
          <a:xfrm>
            <a:off x="800100" y="9334500"/>
            <a:ext cx="86868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9582150"/>
            <a:ext cx="4762500" cy="285750"/>
          </a:xfrm>
          <a:prstGeom prst="rect">
            <a:avLst/>
          </a:prstGeom>
          <a:noFill/>
        </p:spPr>
        <p:txBody>
          <a:bodyPr wrap="square" anchor="t" lIns="0" rIns="0" tIns="0" bIns="0">
            <a:spAutoFit/>
          </a:bodyPr>
          <a:lstStyle/>
          <a:p>
            <a:r>
              <a:rPr sz="1650" b="0">
                <a:solidFill>
                  <a:srgbClr val="10B77F"/>
                </a:solidFill>
                <a:latin typeface="Inter"/>
              </a:rPr>
              <a:t>◆ </a:t>
            </a:r>
            <a:r>
              <a:rPr sz="1650" b="0">
                <a:solidFill>
                  <a:srgbClr val="9AA0AC"/>
                </a:solidFill>
                <a:latin typeface="Inter"/>
              </a:rPr>
              <a:t>Augmented Team</a:t>
            </a:r>
          </a:p>
        </p:txBody>
      </p:sp>
      <p:sp>
        <p:nvSpPr>
          <p:cNvPr id="7" name="TextBox 6"/>
          <p:cNvSpPr txBox="1"/>
          <p:nvPr/>
        </p:nvSpPr>
        <p:spPr>
          <a:xfrm>
            <a:off x="4762500" y="9582150"/>
            <a:ext cx="4724400" cy="285750"/>
          </a:xfrm>
          <a:prstGeom prst="rect">
            <a:avLst/>
          </a:prstGeom>
          <a:noFill/>
        </p:spPr>
        <p:txBody>
          <a:bodyPr wrap="square" anchor="t" lIns="0" rIns="0" tIns="0" bIns="0">
            <a:spAutoFit/>
          </a:bodyPr>
          <a:lstStyle/>
          <a:p>
            <a:r>
              <a:rPr sz="1650" b="0">
                <a:solidFill>
                  <a:srgbClr val="9AA0AC"/>
                </a:solidFill>
                <a:latin typeface="Inter"/>
              </a:rPr>
              <a:t>Source: Infotech, 27 Oct</a:t>
            </a:r>
          </a:p>
        </p:txBody>
      </p:sp>
      <p:sp>
        <p:nvSpPr>
          <p:cNvPr id="8" name="TextBox 7"/>
          <p:cNvSpPr txBox="1"/>
          <p:nvPr/>
        </p:nvSpPr>
        <p:spPr>
          <a:xfrm>
            <a:off x="800100" y="1809750"/>
            <a:ext cx="8686800" cy="3429000"/>
          </a:xfrm>
          <a:prstGeom prst="rect">
            <a:avLst/>
          </a:prstGeom>
          <a:noFill/>
        </p:spPr>
        <p:txBody>
          <a:bodyPr wrap="square" anchor="t" lIns="0" rIns="0" tIns="0" bIns="0">
            <a:spAutoFit/>
          </a:bodyPr>
          <a:lstStyle/>
          <a:p>
            <a:pPr>
              <a:lnSpc>
                <a:spcPct val="95000"/>
              </a:lnSpc>
            </a:pPr>
            <a:r>
              <a:rPr sz="6900" b="0">
                <a:solidFill>
                  <a:srgbClr val="FFFFFF"/>
                </a:solidFill>
                <a:latin typeface="Instrument Serif"/>
              </a:rPr>
              <a:t>More choice. Same </a:t>
            </a:r>
            <a:r>
              <a:rPr sz="6900" b="0" i="1">
                <a:solidFill>
                  <a:srgbClr val="10B77F"/>
                </a:solidFill>
                <a:latin typeface="Instrument Serif"/>
              </a:rPr>
              <a:t>landlord</a:t>
            </a:r>
          </a:p>
        </p:txBody>
      </p:sp>
      <p:sp>
        <p:nvSpPr>
          <p:cNvPr id="9" name="TextBox 8"/>
          <p:cNvSpPr txBox="1"/>
          <p:nvPr/>
        </p:nvSpPr>
        <p:spPr>
          <a:xfrm>
            <a:off x="800100" y="5619750"/>
            <a:ext cx="8191500" cy="2095500"/>
          </a:xfrm>
          <a:prstGeom prst="rect">
            <a:avLst/>
          </a:prstGeom>
          <a:noFill/>
        </p:spPr>
        <p:txBody>
          <a:bodyPr wrap="square" anchor="t" lIns="0" rIns="0" tIns="0" bIns="0">
            <a:spAutoFit/>
          </a:bodyPr>
          <a:lstStyle/>
          <a:p>
            <a:pPr>
              <a:lnSpc>
                <a:spcPct val="130000"/>
              </a:lnSpc>
            </a:pPr>
            <a:r>
              <a:rPr sz="2550" b="0">
                <a:solidFill>
                  <a:srgbClr val="C7CAD2"/>
                </a:solidFill>
                <a:latin typeface="Inter"/>
              </a:rPr>
              <a:t>Models now reach more clouds, but identities, memory, runtime policy, telemetry and billing stay tied to vendor control planes.</a:t>
            </a:r>
          </a:p>
        </p:txBody>
      </p:sp>
      <p:sp>
        <p:nvSpPr>
          <p:cNvPr id="10" name="Rectangle 9"/>
          <p:cNvSpPr/>
          <p:nvPr/>
        </p:nvSpPr>
        <p:spPr>
          <a:xfrm>
            <a:off x="800100" y="8191500"/>
            <a:ext cx="5334000" cy="666750"/>
          </a:xfrm>
          <a:prstGeom prst="rect">
            <a:avLst/>
          </a:prstGeom>
          <a:solidFill>
            <a:srgbClr val="0E2A2A"/>
          </a:solidFill>
          <a:ln w="19050">
            <a:solidFill>
              <a:srgbClr val="10B7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8382000"/>
            <a:ext cx="4953000" cy="381000"/>
          </a:xfrm>
          <a:prstGeom prst="rect">
            <a:avLst/>
          </a:prstGeom>
          <a:noFill/>
        </p:spPr>
        <p:txBody>
          <a:bodyPr wrap="square" anchor="t" lIns="0" rIns="0" tIns="0" bIns="0">
            <a:spAutoFit/>
          </a:bodyPr>
          <a:lstStyle/>
          <a:p>
            <a:r>
              <a:rPr sz="1950" b="1">
                <a:solidFill>
                  <a:srgbClr val="10B77F"/>
                </a:solidFill>
                <a:latin typeface="Inter"/>
              </a:rPr>
              <a:t>Oct 27 · Choice without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0100" y="800100"/>
            <a:ext cx="5715000" cy="381000"/>
          </a:xfrm>
          <a:prstGeom prst="rect">
            <a:avLst/>
          </a:prstGeom>
          <a:noFill/>
        </p:spPr>
        <p:txBody>
          <a:bodyPr wrap="square" anchor="t" lIns="0" rIns="0" tIns="0" bIns="0">
            <a:spAutoFit/>
          </a:bodyPr>
          <a:lstStyle/>
          <a:p>
            <a:r>
              <a:rPr sz="1800" b="1">
                <a:solidFill>
                  <a:srgbClr val="10B77F"/>
                </a:solidFill>
                <a:latin typeface="Inter"/>
              </a:rPr>
              <a:t>THE TAKEAWAY</a:t>
            </a:r>
          </a:p>
        </p:txBody>
      </p:sp>
      <p:sp>
        <p:nvSpPr>
          <p:cNvPr id="4" name="Rectangle 3"/>
          <p:cNvSpPr/>
          <p:nvPr/>
        </p:nvSpPr>
        <p:spPr>
          <a:xfrm>
            <a:off x="800100" y="9334500"/>
            <a:ext cx="86868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 y="9582150"/>
            <a:ext cx="4762500" cy="285750"/>
          </a:xfrm>
          <a:prstGeom prst="rect">
            <a:avLst/>
          </a:prstGeom>
          <a:noFill/>
        </p:spPr>
        <p:txBody>
          <a:bodyPr wrap="square" anchor="t" lIns="0" rIns="0" tIns="0" bIns="0">
            <a:spAutoFit/>
          </a:bodyPr>
          <a:lstStyle/>
          <a:p>
            <a:r>
              <a:rPr sz="1650" b="0">
                <a:solidFill>
                  <a:srgbClr val="10B77F"/>
                </a:solidFill>
                <a:latin typeface="Inter"/>
              </a:rPr>
              <a:t>◆ </a:t>
            </a:r>
            <a:r>
              <a:rPr sz="1650" b="0">
                <a:solidFill>
                  <a:srgbClr val="9AA0AC"/>
                </a:solidFill>
                <a:latin typeface="Inter"/>
              </a:rPr>
              <a:t>Augmented Team</a:t>
            </a:r>
          </a:p>
        </p:txBody>
      </p:sp>
      <p:sp>
        <p:nvSpPr>
          <p:cNvPr id="6" name="TextBox 5"/>
          <p:cNvSpPr txBox="1"/>
          <p:nvPr/>
        </p:nvSpPr>
        <p:spPr>
          <a:xfrm>
            <a:off x="4762500" y="9582150"/>
            <a:ext cx="4724400" cy="285750"/>
          </a:xfrm>
          <a:prstGeom prst="rect">
            <a:avLst/>
          </a:prstGeom>
          <a:noFill/>
        </p:spPr>
        <p:txBody>
          <a:bodyPr wrap="square" anchor="t" lIns="0" rIns="0" tIns="0" bIns="0">
            <a:spAutoFit/>
          </a:bodyPr>
          <a:lstStyle/>
          <a:p>
            <a:r>
              <a:rPr sz="1650" b="0">
                <a:solidFill>
                  <a:srgbClr val="9AA0AC"/>
                </a:solidFill>
                <a:latin typeface="Inter"/>
              </a:rPr>
              <a:t>Own your AI operating model</a:t>
            </a:r>
          </a:p>
        </p:txBody>
      </p:sp>
      <p:sp>
        <p:nvSpPr>
          <p:cNvPr id="7" name="TextBox 6"/>
          <p:cNvSpPr txBox="1"/>
          <p:nvPr/>
        </p:nvSpPr>
        <p:spPr>
          <a:xfrm>
            <a:off x="800100" y="1809750"/>
            <a:ext cx="8686800" cy="3429000"/>
          </a:xfrm>
          <a:prstGeom prst="rect">
            <a:avLst/>
          </a:prstGeom>
          <a:noFill/>
        </p:spPr>
        <p:txBody>
          <a:bodyPr wrap="square" anchor="t" lIns="0" rIns="0" tIns="0" bIns="0">
            <a:spAutoFit/>
          </a:bodyPr>
          <a:lstStyle/>
          <a:p>
            <a:pPr>
              <a:lnSpc>
                <a:spcPct val="95000"/>
              </a:lnSpc>
            </a:pPr>
            <a:r>
              <a:rPr sz="6900" b="0">
                <a:solidFill>
                  <a:srgbClr val="FFFFFF"/>
                </a:solidFill>
                <a:latin typeface="Instrument Serif"/>
              </a:rPr>
              <a:t>Tokens get cheaper. The </a:t>
            </a:r>
            <a:r>
              <a:rPr sz="6900" b="0" i="1">
                <a:solidFill>
                  <a:srgbClr val="10B77F"/>
                </a:solidFill>
                <a:latin typeface="Instrument Serif"/>
              </a:rPr>
              <a:t>loop</a:t>
            </a:r>
            <a:r>
              <a:rPr sz="6900" b="0">
                <a:solidFill>
                  <a:srgbClr val="FFFFFF"/>
                </a:solidFill>
                <a:latin typeface="Instrument Serif"/>
              </a:rPr>
              <a:t> is yours.</a:t>
            </a:r>
          </a:p>
        </p:txBody>
      </p:sp>
      <p:sp>
        <p:nvSpPr>
          <p:cNvPr id="8" name="TextBox 7"/>
          <p:cNvSpPr txBox="1"/>
          <p:nvPr/>
        </p:nvSpPr>
        <p:spPr>
          <a:xfrm>
            <a:off x="800100" y="5619750"/>
            <a:ext cx="8191500" cy="2857500"/>
          </a:xfrm>
          <a:prstGeom prst="rect">
            <a:avLst/>
          </a:prstGeom>
          <a:noFill/>
        </p:spPr>
        <p:txBody>
          <a:bodyPr wrap="square" anchor="t" lIns="0" rIns="0" tIns="0" bIns="0">
            <a:spAutoFit/>
          </a:bodyPr>
          <a:lstStyle/>
          <a:p>
            <a:pPr>
              <a:lnSpc>
                <a:spcPct val="130000"/>
              </a:lnSpc>
            </a:pPr>
            <a:r>
              <a:rPr sz="2550" b="0">
                <a:solidFill>
                  <a:srgbClr val="C7CAD2"/>
                </a:solidFill>
                <a:latin typeface="Inter"/>
              </a:rPr>
              <a:t>Prices fall, capex balloons, vendors hold the control plane. What stays yours is the skills, context and workflows you build on top. That is where human capital and token capital compound.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0100" y="800100"/>
            <a:ext cx="5715000" cy="381000"/>
          </a:xfrm>
          <a:prstGeom prst="rect">
            <a:avLst/>
          </a:prstGeom>
          <a:noFill/>
        </p:spPr>
        <p:txBody>
          <a:bodyPr wrap="square" anchor="t" lIns="0" rIns="0" tIns="0" bIns="0">
            <a:spAutoFit/>
          </a:bodyPr>
          <a:lstStyle/>
          <a:p>
            <a:r>
              <a:rPr sz="1800" b="1">
                <a:solidFill>
                  <a:srgbClr val="10B77F"/>
                </a:solidFill>
                <a:latin typeface="Inter"/>
              </a:rPr>
              <a:t>AUGMENTED TEAM</a:t>
            </a:r>
          </a:p>
        </p:txBody>
      </p:sp>
      <p:sp>
        <p:nvSpPr>
          <p:cNvPr id="4" name="Rectangle 3"/>
          <p:cNvSpPr/>
          <p:nvPr/>
        </p:nvSpPr>
        <p:spPr>
          <a:xfrm>
            <a:off x="800100" y="9334500"/>
            <a:ext cx="8686800" cy="19050"/>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 y="9582150"/>
            <a:ext cx="4762500" cy="285750"/>
          </a:xfrm>
          <a:prstGeom prst="rect">
            <a:avLst/>
          </a:prstGeom>
          <a:noFill/>
        </p:spPr>
        <p:txBody>
          <a:bodyPr wrap="square" anchor="t" lIns="0" rIns="0" tIns="0" bIns="0">
            <a:spAutoFit/>
          </a:bodyPr>
          <a:lstStyle/>
          <a:p>
            <a:r>
              <a:rPr sz="1650" b="0">
                <a:solidFill>
                  <a:srgbClr val="10B77F"/>
                </a:solidFill>
                <a:latin typeface="Inter"/>
              </a:rPr>
              <a:t>◆ </a:t>
            </a:r>
            <a:r>
              <a:rPr sz="1650" b="0">
                <a:solidFill>
                  <a:srgbClr val="9AA0AC"/>
                </a:solidFill>
                <a:latin typeface="Inter"/>
              </a:rPr>
              <a:t>Augmented Team</a:t>
            </a:r>
          </a:p>
        </p:txBody>
      </p:sp>
      <p:sp>
        <p:nvSpPr>
          <p:cNvPr id="6" name="TextBox 5"/>
          <p:cNvSpPr txBox="1"/>
          <p:nvPr/>
        </p:nvSpPr>
        <p:spPr>
          <a:xfrm>
            <a:off x="4762500" y="9582150"/>
            <a:ext cx="4724400" cy="285750"/>
          </a:xfrm>
          <a:prstGeom prst="rect">
            <a:avLst/>
          </a:prstGeom>
          <a:noFill/>
        </p:spPr>
        <p:txBody>
          <a:bodyPr wrap="square" anchor="t" lIns="0" rIns="0" tIns="0" bIns="0">
            <a:spAutoFit/>
          </a:bodyPr>
          <a:lstStyle/>
          <a:p>
            <a:r>
              <a:rPr sz="1650" b="0">
                <a:solidFill>
                  <a:srgbClr val="9AA0AC"/>
                </a:solidFill>
                <a:latin typeface="Inter"/>
              </a:rPr>
              <a:t>Follow for next week</a:t>
            </a:r>
          </a:p>
        </p:txBody>
      </p:sp>
      <p:sp>
        <p:nvSpPr>
          <p:cNvPr id="7" name="Rectangle 6"/>
          <p:cNvSpPr/>
          <p:nvPr/>
        </p:nvSpPr>
        <p:spPr>
          <a:xfrm>
            <a:off x="800100" y="885825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87391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7900" y="861060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71800" y="84724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95700" y="832485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9600" y="81676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43500" y="800100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67400" y="78247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91300" y="763905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0" y="74437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39100" y="7239000"/>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63000" y="7024687"/>
            <a:ext cx="571500" cy="28575"/>
          </a:xfrm>
          <a:prstGeom prst="rect">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 y="1714500"/>
            <a:ext cx="8686800" cy="3810000"/>
          </a:xfrm>
          <a:prstGeom prst="rect">
            <a:avLst/>
          </a:prstGeom>
          <a:noFill/>
        </p:spPr>
        <p:txBody>
          <a:bodyPr wrap="square" anchor="t" lIns="0" rIns="0" tIns="0" bIns="0">
            <a:spAutoFit/>
          </a:bodyPr>
          <a:lstStyle/>
          <a:p>
            <a:pPr>
              <a:lnSpc>
                <a:spcPct val="95000"/>
              </a:lnSpc>
            </a:pPr>
            <a:r>
              <a:rPr sz="8700" b="0">
                <a:solidFill>
                  <a:srgbClr val="FFFFFF"/>
                </a:solidFill>
                <a:latin typeface="Instrument Serif"/>
              </a:rPr>
              <a:t>We install the </a:t>
            </a:r>
            <a:r>
              <a:rPr sz="8700" b="0" i="1">
                <a:solidFill>
                  <a:srgbClr val="10B77F"/>
                </a:solidFill>
                <a:latin typeface="Instrument Serif"/>
              </a:rPr>
              <a:t>compounding edge</a:t>
            </a:r>
          </a:p>
        </p:txBody>
      </p:sp>
      <p:sp>
        <p:nvSpPr>
          <p:cNvPr id="20" name="TextBox 19"/>
          <p:cNvSpPr txBox="1"/>
          <p:nvPr/>
        </p:nvSpPr>
        <p:spPr>
          <a:xfrm>
            <a:off x="800100" y="6096000"/>
            <a:ext cx="7810500" cy="762000"/>
          </a:xfrm>
          <a:prstGeom prst="rect">
            <a:avLst/>
          </a:prstGeom>
          <a:noFill/>
        </p:spPr>
        <p:txBody>
          <a:bodyPr wrap="square" anchor="t" lIns="0" rIns="0" tIns="0" bIns="0">
            <a:spAutoFit/>
          </a:bodyPr>
          <a:lstStyle/>
          <a:p>
            <a:r>
              <a:rPr sz="4200" b="0">
                <a:solidFill>
                  <a:srgbClr val="C7CAD2"/>
                </a:solidFill>
                <a:latin typeface="Instrument Serif"/>
              </a:rPr>
              <a:t>Follow for next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
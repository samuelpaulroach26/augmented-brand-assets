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0287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THIS WEEK IN AI</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13-19 JUN 2026</a:t>
            </a:r>
          </a:p>
        </p:txBody>
      </p:sp>
      <p:sp>
        <p:nvSpPr>
          <p:cNvPr id="5" name="TextBox 4"/>
          <p:cNvSpPr txBox="1"/>
          <p:nvPr/>
        </p:nvSpPr>
        <p:spPr>
          <a:xfrm>
            <a:off x="914400" y="2743200"/>
            <a:ext cx="8503920" cy="2377440"/>
          </a:xfrm>
          <a:prstGeom prst="rect">
            <a:avLst/>
          </a:prstGeom>
          <a:noFill/>
        </p:spPr>
        <p:txBody>
          <a:bodyPr wrap="square" anchor="b">
            <a:spAutoFit/>
          </a:bodyPr>
          <a:lstStyle/>
          <a:p>
            <a:pPr algn="l">
              <a:lnSpc>
                <a:spcPct val="105000"/>
              </a:lnSpc>
            </a:pPr>
            <a:r>
              <a:rPr sz="5400" i="0" b="0">
                <a:solidFill>
                  <a:srgbClr val="FEFEFE"/>
                </a:solidFill>
                <a:latin typeface="Instrument Serif"/>
              </a:rPr>
              <a:t>Capital met </a:t>
            </a:r>
            <a:r>
              <a:rPr sz="5400" i="1" b="0">
                <a:solidFill>
                  <a:srgbClr val="10B77F"/>
                </a:solidFill>
                <a:latin typeface="Instrument Serif"/>
              </a:rPr>
              <a:t>capability</a:t>
            </a:r>
            <a:r>
              <a:rPr sz="5400" i="0" b="0">
                <a:solidFill>
                  <a:srgbClr val="FEFEFE"/>
                </a:solidFill>
                <a:latin typeface="Instrument Serif"/>
              </a:rPr>
              <a:t>.</a:t>
            </a:r>
          </a:p>
        </p:txBody>
      </p:sp>
      <p:sp>
        <p:nvSpPr>
          <p:cNvPr id="6" name="TextBox 5"/>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9AA0AC"/>
                </a:solidFill>
                <a:latin typeface="Inter"/>
              </a:rPr>
              <a:t>The three stories that actually moved the needle this week.</a:t>
            </a:r>
          </a:p>
        </p:txBody>
      </p:sp>
      <p:sp>
        <p:nvSpPr>
          <p:cNvPr id="7" name="Diamond 6"/>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pic>
        <p:nvPicPr>
          <p:cNvPr id="2" name="Picture 1" descr="slide2-bg.png"/>
          <p:cNvPicPr>
            <a:picLocks noChangeAspect="1"/>
          </p:cNvPicPr>
          <p:nvPr/>
        </p:nvPicPr>
        <p:blipFill>
          <a:blip r:embed="rId2"/>
          <a:stretch>
            <a:fillRect/>
          </a:stretch>
        </p:blipFill>
        <p:spPr>
          <a:xfrm>
            <a:off x="0" y="0"/>
            <a:ext cx="10287000" cy="10287000"/>
          </a:xfrm>
          <a:prstGeom prst="rect">
            <a:avLst/>
          </a:prstGeom>
        </p:spPr>
      </p:pic>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MARKETS</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01 / 03</a:t>
            </a:r>
          </a:p>
        </p:txBody>
      </p:sp>
      <p:sp>
        <p:nvSpPr>
          <p:cNvPr id="5" name="TextBox 4"/>
          <p:cNvSpPr txBox="1"/>
          <p:nvPr/>
        </p:nvSpPr>
        <p:spPr>
          <a:xfrm>
            <a:off x="914400" y="2743200"/>
            <a:ext cx="8503920" cy="2377440"/>
          </a:xfrm>
          <a:prstGeom prst="rect">
            <a:avLst/>
          </a:prstGeom>
          <a:noFill/>
        </p:spPr>
        <p:txBody>
          <a:bodyPr wrap="square" anchor="b">
            <a:spAutoFit/>
          </a:bodyPr>
          <a:lstStyle/>
          <a:p>
            <a:pPr algn="l">
              <a:lnSpc>
                <a:spcPct val="105000"/>
              </a:lnSpc>
            </a:pPr>
            <a:r>
              <a:rPr sz="4200" i="0" b="0">
                <a:solidFill>
                  <a:srgbClr val="FEFEFE"/>
                </a:solidFill>
                <a:latin typeface="Instrument Serif"/>
              </a:rPr>
              <a:t>SpaceX just ran the </a:t>
            </a:r>
            <a:r>
              <a:rPr sz="4200" i="1" b="0">
                <a:solidFill>
                  <a:srgbClr val="10B77F"/>
                </a:solidFill>
                <a:latin typeface="Instrument Serif"/>
              </a:rPr>
              <a:t>biggest IPO in history</a:t>
            </a:r>
            <a:r>
              <a:rPr sz="4200" i="0" b="0">
                <a:solidFill>
                  <a:srgbClr val="FEFEFE"/>
                </a:solidFill>
                <a:latin typeface="Instrument Serif"/>
              </a:rPr>
              <a:t>.</a:t>
            </a:r>
          </a:p>
        </p:txBody>
      </p:sp>
      <p:sp>
        <p:nvSpPr>
          <p:cNvPr id="6" name="TextBox 5"/>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Priced at $135 a share on 11 June, SPCX opened on the Nasdaq the next day and closed up 19%. Roughly $75B raised at a ~$1.75T valuation.</a:t>
            </a:r>
          </a:p>
        </p:txBody>
      </p:sp>
      <p:sp>
        <p:nvSpPr>
          <p:cNvPr id="7" name="TextBox 6"/>
          <p:cNvSpPr txBox="1"/>
          <p:nvPr/>
        </p:nvSpPr>
        <p:spPr>
          <a:xfrm>
            <a:off x="914400" y="7863840"/>
            <a:ext cx="6400800" cy="548640"/>
          </a:xfrm>
          <a:prstGeom prst="rect">
            <a:avLst/>
          </a:prstGeom>
          <a:noFill/>
        </p:spPr>
        <p:txBody>
          <a:bodyPr wrap="square">
            <a:spAutoFit/>
          </a:bodyPr>
          <a:lstStyle/>
          <a:p>
            <a:r>
              <a:rPr sz="1700" i="0" b="1">
                <a:solidFill>
                  <a:srgbClr val="10B77F"/>
                </a:solidFill>
                <a:latin typeface="Inter"/>
              </a:rPr>
              <a:t>$75B raised  ·  +19% day one</a:t>
            </a:r>
          </a:p>
        </p:txBody>
      </p:sp>
      <p:sp>
        <p:nvSpPr>
          <p:cNvPr id="8" name="TextBox 7"/>
          <p:cNvSpPr txBox="1"/>
          <p:nvPr/>
        </p:nvSpPr>
        <p:spPr>
          <a:xfrm>
            <a:off x="5303520" y="9555480"/>
            <a:ext cx="4069080" cy="365760"/>
          </a:xfrm>
          <a:prstGeom prst="rect">
            <a:avLst/>
          </a:prstGeom>
          <a:noFill/>
        </p:spPr>
        <p:txBody>
          <a:bodyPr wrap="square">
            <a:spAutoFit/>
          </a:bodyPr>
          <a:lstStyle/>
          <a:p>
            <a:pPr algn="r"/>
            <a:r>
              <a:rPr sz="1000" i="0" b="0">
                <a:solidFill>
                  <a:srgbClr val="B9BCC4"/>
                </a:solidFill>
                <a:latin typeface="Inter"/>
              </a:rPr>
              <a:t>Photo: NASA / Joel Kowsky</a:t>
            </a:r>
          </a:p>
        </p:txBody>
      </p:sp>
      <p:sp>
        <p:nvSpPr>
          <p:cNvPr id="9" name="Diamond 8"/>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MODELS</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02 / 03</a:t>
            </a:r>
          </a:p>
        </p:txBody>
      </p:sp>
      <p:pic>
        <p:nvPicPr>
          <p:cNvPr id="5" name="Picture 4" descr="anthropic-white.png"/>
          <p:cNvPicPr>
            <a:picLocks noChangeAspect="1"/>
          </p:cNvPicPr>
          <p:nvPr/>
        </p:nvPicPr>
        <p:blipFill>
          <a:blip r:embed="rId2"/>
          <a:stretch>
            <a:fillRect/>
          </a:stretch>
        </p:blipFill>
        <p:spPr>
          <a:xfrm>
            <a:off x="914400" y="2743200"/>
            <a:ext cx="4064000" cy="457200"/>
          </a:xfrm>
          <a:prstGeom prst="rect">
            <a:avLst/>
          </a:prstGeom>
        </p:spPr>
      </p:pic>
      <p:sp>
        <p:nvSpPr>
          <p:cNvPr id="6" name="TextBox 5"/>
          <p:cNvSpPr txBox="1"/>
          <p:nvPr/>
        </p:nvSpPr>
        <p:spPr>
          <a:xfrm>
            <a:off x="914400" y="3383280"/>
            <a:ext cx="8503920" cy="2377440"/>
          </a:xfrm>
          <a:prstGeom prst="rect">
            <a:avLst/>
          </a:prstGeom>
          <a:noFill/>
        </p:spPr>
        <p:txBody>
          <a:bodyPr wrap="square" anchor="b">
            <a:spAutoFit/>
          </a:bodyPr>
          <a:lstStyle/>
          <a:p>
            <a:pPr algn="l">
              <a:lnSpc>
                <a:spcPct val="105000"/>
              </a:lnSpc>
            </a:pPr>
            <a:r>
              <a:rPr sz="4000" i="0" b="0">
                <a:solidFill>
                  <a:srgbClr val="FEFEFE"/>
                </a:solidFill>
                <a:latin typeface="Instrument Serif"/>
              </a:rPr>
              <a:t>Shipped its most capable model. Then it got </a:t>
            </a:r>
            <a:r>
              <a:rPr sz="4000" i="1" b="0">
                <a:solidFill>
                  <a:srgbClr val="10B77F"/>
                </a:solidFill>
                <a:latin typeface="Instrument Serif"/>
              </a:rPr>
              <a:t>pulled</a:t>
            </a:r>
            <a:r>
              <a:rPr sz="4000" i="0" b="0">
                <a:solidFill>
                  <a:srgbClr val="FEFEFE"/>
                </a:solidFill>
                <a:latin typeface="Instrument Serif"/>
              </a:rPr>
              <a:t>.</a:t>
            </a:r>
          </a:p>
        </p:txBody>
      </p:sp>
      <p:sp>
        <p:nvSpPr>
          <p:cNvPr id="7" name="TextBox 6"/>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Claude Fable 5 launched on 9 June for long-horizon, agentic work. Three days later a US export directive suspended it over a suspected jailbreak. Capability and control collided in real time.</a:t>
            </a:r>
          </a:p>
        </p:txBody>
      </p:sp>
      <p:sp>
        <p:nvSpPr>
          <p:cNvPr id="8" name="Diamond 7"/>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pic>
        <p:nvPicPr>
          <p:cNvPr id="2" name="Picture 1" descr="slide4-bg.png"/>
          <p:cNvPicPr>
            <a:picLocks noChangeAspect="1"/>
          </p:cNvPicPr>
          <p:nvPr/>
        </p:nvPicPr>
        <p:blipFill>
          <a:blip r:embed="rId2"/>
          <a:stretch>
            <a:fillRect/>
          </a:stretch>
        </p:blipFill>
        <p:spPr>
          <a:xfrm>
            <a:off x="0" y="0"/>
            <a:ext cx="10287000" cy="10287000"/>
          </a:xfrm>
          <a:prstGeom prst="rect">
            <a:avLst/>
          </a:prstGeom>
        </p:spPr>
      </p:pic>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STRATEGY</a:t>
            </a:r>
          </a:p>
        </p:txBody>
      </p:sp>
      <p:sp>
        <p:nvSpPr>
          <p:cNvPr id="4" name="TextBox 3"/>
          <p:cNvSpPr txBox="1"/>
          <p:nvPr/>
        </p:nvSpPr>
        <p:spPr>
          <a:xfrm>
            <a:off x="7315200" y="777240"/>
            <a:ext cx="2057400" cy="548640"/>
          </a:xfrm>
          <a:prstGeom prst="rect">
            <a:avLst/>
          </a:prstGeom>
          <a:noFill/>
        </p:spPr>
        <p:txBody>
          <a:bodyPr wrap="square">
            <a:spAutoFit/>
          </a:bodyPr>
          <a:lstStyle/>
          <a:p>
            <a:pPr algn="r"/>
            <a:r>
              <a:rPr sz="1300" i="0" b="1">
                <a:solidFill>
                  <a:srgbClr val="9AA0AC"/>
                </a:solidFill>
                <a:latin typeface="Inter"/>
              </a:rPr>
              <a:t>03 / 03</a:t>
            </a:r>
          </a:p>
        </p:txBody>
      </p:sp>
      <p:sp>
        <p:nvSpPr>
          <p:cNvPr id="5" name="TextBox 4"/>
          <p:cNvSpPr txBox="1"/>
          <p:nvPr/>
        </p:nvSpPr>
        <p:spPr>
          <a:xfrm>
            <a:off x="914400" y="2743200"/>
            <a:ext cx="8503920" cy="2377440"/>
          </a:xfrm>
          <a:prstGeom prst="rect">
            <a:avLst/>
          </a:prstGeom>
          <a:noFill/>
        </p:spPr>
        <p:txBody>
          <a:bodyPr wrap="square" anchor="b">
            <a:spAutoFit/>
          </a:bodyPr>
          <a:lstStyle/>
          <a:p>
            <a:pPr algn="l">
              <a:lnSpc>
                <a:spcPct val="105000"/>
              </a:lnSpc>
            </a:pPr>
            <a:r>
              <a:rPr sz="4200" i="0" b="0">
                <a:solidFill>
                  <a:srgbClr val="FEFEFE"/>
                </a:solidFill>
                <a:latin typeface="Instrument Serif"/>
              </a:rPr>
              <a:t>Nadella: every firm now needs </a:t>
            </a:r>
            <a:r>
              <a:rPr sz="4200" i="1" b="0">
                <a:solidFill>
                  <a:srgbClr val="10B77F"/>
                </a:solidFill>
                <a:latin typeface="Instrument Serif"/>
              </a:rPr>
              <a:t>token capital</a:t>
            </a:r>
            <a:r>
              <a:rPr sz="4200" i="0" b="0">
                <a:solidFill>
                  <a:srgbClr val="FEFEFE"/>
                </a:solidFill>
                <a:latin typeface="Instrument Serif"/>
              </a:rPr>
              <a:t>.</a:t>
            </a:r>
          </a:p>
        </p:txBody>
      </p:sp>
      <p:sp>
        <p:nvSpPr>
          <p:cNvPr id="6" name="TextBox 5"/>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The edge is not picking the best model. It is the learning loop you build on top of models, where your people (human capital) and your AI capability (token capital) compound together.</a:t>
            </a:r>
          </a:p>
        </p:txBody>
      </p:sp>
      <p:sp>
        <p:nvSpPr>
          <p:cNvPr id="7" name="TextBox 6"/>
          <p:cNvSpPr txBox="1"/>
          <p:nvPr/>
        </p:nvSpPr>
        <p:spPr>
          <a:xfrm>
            <a:off x="5303520" y="9555480"/>
            <a:ext cx="4069080" cy="365760"/>
          </a:xfrm>
          <a:prstGeom prst="rect">
            <a:avLst/>
          </a:prstGeom>
          <a:noFill/>
        </p:spPr>
        <p:txBody>
          <a:bodyPr wrap="square">
            <a:spAutoFit/>
          </a:bodyPr>
          <a:lstStyle/>
          <a:p>
            <a:pPr algn="r"/>
            <a:r>
              <a:rPr sz="1000" i="0" b="0">
                <a:solidFill>
                  <a:srgbClr val="B9BCC4"/>
                </a:solidFill>
                <a:latin typeface="Inter"/>
              </a:rPr>
              <a:t>Photo: LeWeb Photos · CC BY 2.0</a:t>
            </a:r>
          </a:p>
        </p:txBody>
      </p:sp>
      <p:sp>
        <p:nvSpPr>
          <p:cNvPr id="8" name="Diamond 7"/>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THE TAKEAWAY</a:t>
            </a:r>
          </a:p>
        </p:txBody>
      </p:sp>
      <p:sp>
        <p:nvSpPr>
          <p:cNvPr id="4" name="TextBox 3"/>
          <p:cNvSpPr txBox="1"/>
          <p:nvPr/>
        </p:nvSpPr>
        <p:spPr>
          <a:xfrm>
            <a:off x="914400" y="2743200"/>
            <a:ext cx="8503920" cy="2377440"/>
          </a:xfrm>
          <a:prstGeom prst="rect">
            <a:avLst/>
          </a:prstGeom>
          <a:noFill/>
        </p:spPr>
        <p:txBody>
          <a:bodyPr wrap="square" anchor="b">
            <a:spAutoFit/>
          </a:bodyPr>
          <a:lstStyle/>
          <a:p>
            <a:pPr algn="l">
              <a:lnSpc>
                <a:spcPct val="105000"/>
              </a:lnSpc>
            </a:pPr>
            <a:r>
              <a:rPr sz="4200" i="0" b="0">
                <a:solidFill>
                  <a:srgbClr val="FEFEFE"/>
                </a:solidFill>
                <a:latin typeface="Instrument Serif"/>
              </a:rPr>
              <a:t>Owning your </a:t>
            </a:r>
            <a:r>
              <a:rPr sz="4200" i="1" b="0">
                <a:solidFill>
                  <a:srgbClr val="10B77F"/>
                </a:solidFill>
                <a:latin typeface="Instrument Serif"/>
              </a:rPr>
              <a:t>token capital</a:t>
            </a:r>
            <a:r>
              <a:rPr sz="4200" i="0" b="0">
                <a:solidFill>
                  <a:srgbClr val="FEFEFE"/>
                </a:solidFill>
                <a:latin typeface="Instrument Serif"/>
              </a:rPr>
              <a:t> is the whole game.</a:t>
            </a:r>
          </a:p>
        </p:txBody>
      </p:sp>
      <p:sp>
        <p:nvSpPr>
          <p:cNvPr id="5" name="TextBox 4"/>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Money is chasing capability. Capability is outrunning control. And the sharpest operator in tech just said the moat is the loop you own. Renting tools does not compound. An operating model you own does.</a:t>
            </a:r>
          </a:p>
        </p:txBody>
      </p:sp>
      <p:sp>
        <p:nvSpPr>
          <p:cNvPr id="6" name="Diamond 5"/>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AUGMENTED TEAM</a:t>
            </a:r>
          </a:p>
        </p:txBody>
      </p:sp>
      <p:sp>
        <p:nvSpPr>
          <p:cNvPr id="4" name="TextBox 3"/>
          <p:cNvSpPr txBox="1"/>
          <p:nvPr/>
        </p:nvSpPr>
        <p:spPr>
          <a:xfrm>
            <a:off x="914400" y="2743200"/>
            <a:ext cx="8503920" cy="2377440"/>
          </a:xfrm>
          <a:prstGeom prst="rect">
            <a:avLst/>
          </a:prstGeom>
          <a:noFill/>
        </p:spPr>
        <p:txBody>
          <a:bodyPr wrap="square" anchor="b">
            <a:spAutoFit/>
          </a:bodyPr>
          <a:lstStyle/>
          <a:p>
            <a:pPr algn="l">
              <a:lnSpc>
                <a:spcPct val="105000"/>
              </a:lnSpc>
            </a:pPr>
            <a:r>
              <a:rPr sz="5200" i="0" b="0">
                <a:solidFill>
                  <a:srgbClr val="FEFEFE"/>
                </a:solidFill>
                <a:latin typeface="Instrument Serif"/>
              </a:rPr>
              <a:t>We install the </a:t>
            </a:r>
            <a:r>
              <a:rPr sz="5200" i="1" b="0">
                <a:solidFill>
                  <a:srgbClr val="10B77F"/>
                </a:solidFill>
                <a:latin typeface="Instrument Serif"/>
              </a:rPr>
              <a:t>compounding edge</a:t>
            </a:r>
            <a:r>
              <a:rPr sz="5200" i="0" b="0">
                <a:solidFill>
                  <a:srgbClr val="FEFEFE"/>
                </a:solidFill>
                <a:latin typeface="Instrument Serif"/>
              </a:rPr>
              <a:t>.</a:t>
            </a:r>
          </a:p>
        </p:txBody>
      </p:sp>
      <p:sp>
        <p:nvSpPr>
          <p:cNvPr id="5" name="TextBox 4"/>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Build the loop. Own the capability. Compound the advantage. Follow for next week's edition of This Week in AI.</a:t>
            </a:r>
          </a:p>
        </p:txBody>
      </p:sp>
      <p:sp>
        <p:nvSpPr>
          <p:cNvPr id="6" name="Diamond 5"/>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
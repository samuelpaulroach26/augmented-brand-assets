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C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762000"/>
            <a:ext cx="8572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0B77F"/>
                </a:solidFill>
                <a:latin typeface="Inter"/>
              </a:rPr>
              <a:t>THIS WEEK IN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1333500"/>
            <a:ext cx="8572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9AA0AC"/>
                </a:solidFill>
                <a:latin typeface="Inter"/>
              </a:rPr>
              <a:t>9–16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2476500"/>
            <a:ext cx="8572500" cy="400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0" i="0">
                <a:solidFill>
                  <a:srgbClr val="FFFFFF"/>
                </a:solidFill>
                <a:latin typeface="Instrument Serif"/>
              </a:rPr>
              <a:t>Rent the tools, or own the </a:t>
            </a:r>
            <a:r>
              <a:rPr sz="6600" b="0" i="1">
                <a:solidFill>
                  <a:srgbClr val="10B77F"/>
                </a:solidFill>
                <a:latin typeface="Instrument Serif"/>
              </a:rPr>
              <a:t>loop</a:t>
            </a:r>
            <a:r>
              <a:rPr sz="6600" b="0" i="0">
                <a:solidFill>
                  <a:srgbClr val="FFFFFF"/>
                </a:solidFill>
                <a:latin typeface="Instrument Serif"/>
              </a:rPr>
              <a:t>?</a:t>
            </a:r>
          </a:p>
        </p:txBody>
      </p:sp>
      <p:sp>
        <p:nvSpPr>
          <p:cNvPr id="6" name="Rectangle 5"/>
          <p:cNvSpPr/>
          <p:nvPr/>
        </p:nvSpPr>
        <p:spPr>
          <a:xfrm>
            <a:off x="857250" y="9239250"/>
            <a:ext cx="8572500" cy="19050"/>
          </a:xfrm>
          <a:prstGeom prst="rect">
            <a:avLst/>
          </a:prstGeom>
          <a:solidFill>
            <a:srgbClr val="10B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9525000"/>
            <a:ext cx="4762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AA0AC"/>
                </a:solidFill>
                <a:latin typeface="Inter"/>
              </a:rPr>
              <a:t>◆ Augmented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C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762000"/>
            <a:ext cx="8572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0B77F"/>
                </a:solidFill>
                <a:latin typeface="Inter"/>
              </a:rPr>
              <a:t>MARKETS   01/03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1619250"/>
            <a:ext cx="85725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0" i="0">
                <a:solidFill>
                  <a:srgbClr val="FFFFFF"/>
                </a:solidFill>
                <a:latin typeface="Instrument Serif"/>
              </a:rPr>
              <a:t>Anthropic preps for a </a:t>
            </a:r>
            <a:r>
              <a:rPr sz="5400" b="0" i="1">
                <a:solidFill>
                  <a:srgbClr val="10B77F"/>
                </a:solidFill>
                <a:latin typeface="Instrument Serif"/>
              </a:rPr>
              <a:t>public</a:t>
            </a:r>
            <a:r>
              <a:rPr sz="5400" b="0" i="0">
                <a:solidFill>
                  <a:srgbClr val="FFFFFF"/>
                </a:solidFill>
                <a:latin typeface="Instrument Serif"/>
              </a:rPr>
              <a:t> debut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4572000"/>
            <a:ext cx="83820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C7CAD2"/>
                </a:solidFill>
                <a:latin typeface="Inter"/>
              </a:rPr>
              <a:t>Bloomberg reports Anthropic met institutional investors on Oct 14, with IPO marketing possibly as soon as the week of Nov 9. Buyers reportedly value it at $1.8T to $2T.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7620000"/>
            <a:ext cx="7620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0B77F"/>
                </a:solidFill>
                <a:latin typeface="Inter"/>
              </a:rPr>
              <a:t>$1.8T–$2T reported 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57250" y="9239250"/>
            <a:ext cx="8572500" cy="19050"/>
          </a:xfrm>
          <a:prstGeom prst="rect">
            <a:avLst/>
          </a:prstGeom>
          <a:solidFill>
            <a:srgbClr val="10B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9525000"/>
            <a:ext cx="4762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AA0AC"/>
                </a:solidFill>
                <a:latin typeface="Inter"/>
              </a:rPr>
              <a:t>◆ Augmented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C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762000"/>
            <a:ext cx="8572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0B77F"/>
                </a:solidFill>
                <a:latin typeface="Inter"/>
              </a:rPr>
              <a:t>STRATEGY   02/03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1619250"/>
            <a:ext cx="85725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0" i="0">
                <a:solidFill>
                  <a:srgbClr val="FFFFFF"/>
                </a:solidFill>
                <a:latin typeface="Instrument Serif"/>
              </a:rPr>
              <a:t>SoftBank wants $100B to </a:t>
            </a:r>
            <a:r>
              <a:rPr sz="5400" b="0" i="1">
                <a:solidFill>
                  <a:srgbClr val="10B77F"/>
                </a:solidFill>
                <a:latin typeface="Instrument Serif"/>
              </a:rPr>
              <a:t>run</a:t>
            </a:r>
            <a:r>
              <a:rPr sz="5400" b="0" i="0">
                <a:solidFill>
                  <a:srgbClr val="FFFFFF"/>
                </a:solidFill>
                <a:latin typeface="Instrument Serif"/>
              </a:rPr>
              <a:t> companies with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4572000"/>
            <a:ext cx="83820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C7CAD2"/>
                </a:solidFill>
                <a:latin typeface="Inter"/>
              </a:rPr>
              <a:t>The FT reports Masayoshi Son is seeking up to $100B, mainly from Gulf investors, to buy established businesses and improve their operations with AI and robotics. Early talks, unconfirmed.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7620000"/>
            <a:ext cx="7620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0B77F"/>
                </a:solidFill>
                <a:latin typeface="Inter"/>
              </a:rPr>
              <a:t>Up to $100B, early talks</a:t>
            </a:r>
          </a:p>
        </p:txBody>
      </p:sp>
      <p:sp>
        <p:nvSpPr>
          <p:cNvPr id="7" name="Rectangle 6"/>
          <p:cNvSpPr/>
          <p:nvPr/>
        </p:nvSpPr>
        <p:spPr>
          <a:xfrm>
            <a:off x="857250" y="9239250"/>
            <a:ext cx="8572500" cy="19050"/>
          </a:xfrm>
          <a:prstGeom prst="rect">
            <a:avLst/>
          </a:prstGeom>
          <a:solidFill>
            <a:srgbClr val="10B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9525000"/>
            <a:ext cx="4762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AA0AC"/>
                </a:solidFill>
                <a:latin typeface="Inter"/>
              </a:rPr>
              <a:t>◆ Augmented Team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C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762000"/>
            <a:ext cx="8572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0B77F"/>
                </a:solidFill>
                <a:latin typeface="Inter"/>
              </a:rPr>
              <a:t>MODELS   03/03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1619250"/>
            <a:ext cx="85725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0" i="0">
                <a:solidFill>
                  <a:srgbClr val="FFFFFF"/>
                </a:solidFill>
                <a:latin typeface="Instrument Serif"/>
              </a:rPr>
              <a:t>A flagship model, now on your </a:t>
            </a:r>
            <a:r>
              <a:rPr sz="5400" b="0" i="1">
                <a:solidFill>
                  <a:srgbClr val="10B77F"/>
                </a:solidFill>
                <a:latin typeface="Instrument Serif"/>
              </a:rPr>
              <a:t>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4572000"/>
            <a:ext cx="83820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C7CAD2"/>
                </a:solidFill>
                <a:latin typeface="Inter"/>
              </a:rPr>
              <a:t>Microsoft's Surface Laptop Ultra with Nvidia ships Oct 16 from $2,599, running a 137B-parameter coding model on-device. Speed claims are Microsoft's 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7620000"/>
            <a:ext cx="7620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0B77F"/>
                </a:solidFill>
                <a:latin typeface="Inter"/>
              </a:rPr>
              <a:t>137B params, local, from $2,599</a:t>
            </a:r>
          </a:p>
        </p:txBody>
      </p:sp>
      <p:sp>
        <p:nvSpPr>
          <p:cNvPr id="7" name="Rectangle 6"/>
          <p:cNvSpPr/>
          <p:nvPr/>
        </p:nvSpPr>
        <p:spPr>
          <a:xfrm>
            <a:off x="857250" y="9239250"/>
            <a:ext cx="8572500" cy="19050"/>
          </a:xfrm>
          <a:prstGeom prst="rect">
            <a:avLst/>
          </a:prstGeom>
          <a:solidFill>
            <a:srgbClr val="10B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9525000"/>
            <a:ext cx="4762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AA0AC"/>
                </a:solidFill>
                <a:latin typeface="Inter"/>
              </a:rPr>
              <a:t>◆ Augmented Team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C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762000"/>
            <a:ext cx="8572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0B77F"/>
                </a:solidFill>
                <a:latin typeface="Inter"/>
              </a:rPr>
              <a:t>THE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1619250"/>
            <a:ext cx="85725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0" i="0">
                <a:solidFill>
                  <a:srgbClr val="FFFFFF"/>
                </a:solidFill>
                <a:latin typeface="Instrument Serif"/>
              </a:rPr>
              <a:t>Capital is moving to </a:t>
            </a:r>
            <a:r>
              <a:rPr sz="5400" b="0" i="1">
                <a:solidFill>
                  <a:srgbClr val="10B77F"/>
                </a:solidFill>
                <a:latin typeface="Instrument Serif"/>
              </a:rPr>
              <a:t>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4572000"/>
            <a:ext cx="83820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C7CAD2"/>
                </a:solidFill>
                <a:latin typeface="Inter"/>
              </a:rPr>
              <a:t>Valuations, acquisition funds, local models. Every story points one way: the winners own how AI runs inside their business. Human capital plus token capital compounds. Renting tools does not.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57250" y="9239250"/>
            <a:ext cx="8572500" cy="19050"/>
          </a:xfrm>
          <a:prstGeom prst="rect">
            <a:avLst/>
          </a:prstGeom>
          <a:solidFill>
            <a:srgbClr val="10B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9525000"/>
            <a:ext cx="4762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AA0AC"/>
                </a:solidFill>
                <a:latin typeface="Inter"/>
              </a:rPr>
              <a:t>◆ Augmented Team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C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762000"/>
            <a:ext cx="8572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0B77F"/>
                </a:solidFill>
                <a:latin typeface="Inter"/>
              </a:rPr>
              <a:t>AUGMENTED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1619250"/>
            <a:ext cx="85725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0" i="0">
                <a:solidFill>
                  <a:srgbClr val="FFFFFF"/>
                </a:solidFill>
                <a:latin typeface="Instrument Serif"/>
              </a:rPr>
              <a:t>We install the </a:t>
            </a:r>
            <a:r>
              <a:rPr sz="5400" b="0" i="1">
                <a:solidFill>
                  <a:srgbClr val="10B77F"/>
                </a:solidFill>
                <a:latin typeface="Instrument Serif"/>
              </a:rPr>
              <a:t>compounding</a:t>
            </a:r>
            <a:r>
              <a:rPr sz="5400" b="0" i="0">
                <a:solidFill>
                  <a:srgbClr val="FFFFFF"/>
                </a:solidFill>
                <a:latin typeface="Instrument Serif"/>
              </a:rPr>
              <a:t>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4572000"/>
            <a:ext cx="83820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C7CAD2"/>
                </a:solidFill>
                <a:latin typeface="Inter"/>
              </a:rPr>
              <a:t>Follow for next week.</a:t>
            </a:r>
          </a:p>
        </p:txBody>
      </p:sp>
      <p:sp>
        <p:nvSpPr>
          <p:cNvPr id="6" name="Rectangle 5"/>
          <p:cNvSpPr/>
          <p:nvPr/>
        </p:nvSpPr>
        <p:spPr>
          <a:xfrm>
            <a:off x="857250" y="9239250"/>
            <a:ext cx="8572500" cy="19050"/>
          </a:xfrm>
          <a:prstGeom prst="rect">
            <a:avLst/>
          </a:prstGeom>
          <a:solidFill>
            <a:srgbClr val="10B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9525000"/>
            <a:ext cx="4762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AA0AC"/>
                </a:solidFill>
                <a:latin typeface="Inter"/>
              </a:rPr>
              <a:t>◆ Augmented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
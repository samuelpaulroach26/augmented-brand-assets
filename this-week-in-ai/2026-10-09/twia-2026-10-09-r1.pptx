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0287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9334500"/>
            <a:ext cx="85725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857250" y="9648825"/>
            <a:ext cx="152400" cy="152400"/>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9200" y="9601200"/>
            <a:ext cx="3810000" cy="323850"/>
          </a:xfrm>
          <a:prstGeom prst="rect">
            <a:avLst/>
          </a:prstGeom>
          <a:noFill/>
        </p:spPr>
        <p:txBody>
          <a:bodyPr wrap="square" lIns="0" rIns="0" tIns="0" bIns="0" anchor="t">
            <a:spAutoFit/>
          </a:bodyPr>
          <a:lstStyle/>
          <a:p>
            <a:pPr algn="l"/>
            <a:r>
              <a:rPr sz="1950" i="0" b="1">
                <a:solidFill>
                  <a:srgbClr val="FFFFFF"/>
                </a:solidFill>
                <a:latin typeface="Inter"/>
              </a:rPr>
              <a:t>Augmented Team</a:t>
            </a:r>
          </a:p>
        </p:txBody>
      </p:sp>
      <p:sp>
        <p:nvSpPr>
          <p:cNvPr id="6" name="Rectangle 5"/>
          <p:cNvSpPr/>
          <p:nvPr/>
        </p:nvSpPr>
        <p:spPr>
          <a:xfrm>
            <a:off x="0" y="9140671"/>
            <a:ext cx="428625" cy="19382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14067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8625" y="9128708"/>
            <a:ext cx="428625" cy="20579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8625" y="912870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7250" y="9106687"/>
            <a:ext cx="428625" cy="227812"/>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7250" y="9106687"/>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5875" y="9073738"/>
            <a:ext cx="428625" cy="26076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85875" y="907373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14500" y="9029206"/>
            <a:ext cx="428625" cy="305293"/>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14500" y="9029206"/>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43125" y="8972558"/>
            <a:ext cx="428625" cy="36194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3125" y="897255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71750" y="8903342"/>
            <a:ext cx="428625" cy="431157"/>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71750" y="8903342"/>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00375" y="8821164"/>
            <a:ext cx="428625" cy="513335"/>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00375" y="8821164"/>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29000" y="8725671"/>
            <a:ext cx="428625" cy="60882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29000" y="872567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57625" y="8616546"/>
            <a:ext cx="428625" cy="717953"/>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57625" y="8616546"/>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86250" y="8493499"/>
            <a:ext cx="428625" cy="841000"/>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86250" y="8493499"/>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14875" y="8356260"/>
            <a:ext cx="428625" cy="978239"/>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4875" y="8356260"/>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43500" y="8204581"/>
            <a:ext cx="428625" cy="112991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43500" y="820458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72125" y="8038228"/>
            <a:ext cx="428625" cy="129627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72125" y="803822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00750" y="7856982"/>
            <a:ext cx="428625" cy="1477517"/>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00750" y="7856982"/>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29375" y="7660635"/>
            <a:ext cx="428625" cy="1673864"/>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29375" y="7660635"/>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0" y="7448993"/>
            <a:ext cx="428625" cy="1885506"/>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0" y="7448993"/>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286625" y="7221867"/>
            <a:ext cx="428625" cy="2112632"/>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86625" y="7221867"/>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15250" y="6979080"/>
            <a:ext cx="428625" cy="2355419"/>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15250" y="6979080"/>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43875" y="6720461"/>
            <a:ext cx="428625" cy="261403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43875" y="672046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72500" y="6445848"/>
            <a:ext cx="428625" cy="288865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72500" y="644584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01125" y="6155083"/>
            <a:ext cx="428625" cy="3179416"/>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01125" y="6155083"/>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429750" y="5848016"/>
            <a:ext cx="428625" cy="3486483"/>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429750" y="5848016"/>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58375" y="5524500"/>
            <a:ext cx="428625" cy="3810000"/>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58375" y="5524500"/>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7250" y="857250"/>
            <a:ext cx="4762500" cy="323850"/>
          </a:xfrm>
          <a:prstGeom prst="rect">
            <a:avLst/>
          </a:prstGeom>
          <a:noFill/>
        </p:spPr>
        <p:txBody>
          <a:bodyPr wrap="square" lIns="0" rIns="0" tIns="0" bIns="0" anchor="t">
            <a:spAutoFit/>
          </a:bodyPr>
          <a:lstStyle/>
          <a:p>
            <a:pPr algn="l"/>
            <a:r>
              <a:rPr sz="1800" i="0" b="1" spc="480">
                <a:solidFill>
                  <a:srgbClr val="10B77F"/>
                </a:solidFill>
                <a:latin typeface="Inter"/>
              </a:rPr>
              <a:t>THIS WEEK IN AI</a:t>
            </a:r>
          </a:p>
        </p:txBody>
      </p:sp>
      <p:sp>
        <p:nvSpPr>
          <p:cNvPr id="55" name="TextBox 54"/>
          <p:cNvSpPr txBox="1"/>
          <p:nvPr/>
        </p:nvSpPr>
        <p:spPr>
          <a:xfrm>
            <a:off x="4762500" y="857250"/>
            <a:ext cx="4667250" cy="323850"/>
          </a:xfrm>
          <a:prstGeom prst="rect">
            <a:avLst/>
          </a:prstGeom>
          <a:noFill/>
        </p:spPr>
        <p:txBody>
          <a:bodyPr wrap="square" lIns="0" rIns="0" tIns="0" bIns="0" anchor="t">
            <a:spAutoFit/>
          </a:bodyPr>
          <a:lstStyle/>
          <a:p>
            <a:pPr algn="r"/>
            <a:r>
              <a:rPr sz="1800" i="0" b="0" spc="480">
                <a:solidFill>
                  <a:srgbClr val="9AA0AC"/>
                </a:solidFill>
                <a:latin typeface="Inter"/>
              </a:rPr>
              <a:t>3 – 9 OCT 2026</a:t>
            </a:r>
          </a:p>
        </p:txBody>
      </p:sp>
      <p:sp>
        <p:nvSpPr>
          <p:cNvPr id="56" name="TextBox 55"/>
          <p:cNvSpPr txBox="1"/>
          <p:nvPr/>
        </p:nvSpPr>
        <p:spPr>
          <a:xfrm>
            <a:off x="857250" y="1809750"/>
            <a:ext cx="8572500" cy="2857500"/>
          </a:xfrm>
          <a:prstGeom prst="rect">
            <a:avLst/>
          </a:prstGeom>
          <a:noFill/>
        </p:spPr>
        <p:txBody>
          <a:bodyPr wrap="square" lIns="0" rIns="0" tIns="0" bIns="0" anchor="t">
            <a:spAutoFit/>
          </a:bodyPr>
          <a:lstStyle/>
          <a:p>
            <a:pPr algn="l">
              <a:lnSpc>
                <a:spcPct val="95000"/>
              </a:lnSpc>
            </a:pPr>
            <a:r>
              <a:rPr sz="9600" i="0" b="0">
                <a:solidFill>
                  <a:srgbClr val="FFFFFF"/>
                </a:solidFill>
                <a:latin typeface="Instrument Serif"/>
              </a:rPr>
              <a:t>Everyone rents AI. Few </a:t>
            </a:r>
            <a:r>
              <a:rPr sz="9600" i="1" b="0">
                <a:solidFill>
                  <a:srgbClr val="10B77F"/>
                </a:solidFill>
                <a:latin typeface="Instrument Serif"/>
              </a:rPr>
              <a:t>own</a:t>
            </a:r>
            <a:r>
              <a:rPr sz="9600" i="0" b="0">
                <a:solidFill>
                  <a:srgbClr val="FFFFFF"/>
                </a:solidFill>
                <a:latin typeface="Instrument Serif"/>
              </a:rPr>
              <a:t> it.</a:t>
            </a:r>
          </a:p>
        </p:txBody>
      </p:sp>
      <p:sp>
        <p:nvSpPr>
          <p:cNvPr id="57" name="TextBox 56"/>
          <p:cNvSpPr txBox="1"/>
          <p:nvPr/>
        </p:nvSpPr>
        <p:spPr>
          <a:xfrm>
            <a:off x="857250" y="4476750"/>
            <a:ext cx="7620000" cy="381000"/>
          </a:xfrm>
          <a:prstGeom prst="rect">
            <a:avLst/>
          </a:prstGeom>
          <a:noFill/>
        </p:spPr>
        <p:txBody>
          <a:bodyPr wrap="square" lIns="0" rIns="0" tIns="0" bIns="0" anchor="t">
            <a:spAutoFit/>
          </a:bodyPr>
          <a:lstStyle/>
          <a:p>
            <a:pPr algn="l"/>
            <a:r>
              <a:rPr sz="1950" i="0" b="0" spc="300">
                <a:solidFill>
                  <a:srgbClr val="9AA0AC"/>
                </a:solidFill>
                <a:latin typeface="Inter"/>
              </a:rPr>
              <a:t>THREE STORIES. ONE PATTERN.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9334500"/>
            <a:ext cx="85725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857250" y="9648825"/>
            <a:ext cx="152400" cy="152400"/>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9200" y="9601200"/>
            <a:ext cx="3810000" cy="323850"/>
          </a:xfrm>
          <a:prstGeom prst="rect">
            <a:avLst/>
          </a:prstGeom>
          <a:noFill/>
        </p:spPr>
        <p:txBody>
          <a:bodyPr wrap="square" lIns="0" rIns="0" tIns="0" bIns="0" anchor="t">
            <a:spAutoFit/>
          </a:bodyPr>
          <a:lstStyle/>
          <a:p>
            <a:pPr algn="l"/>
            <a:r>
              <a:rPr sz="1950" i="0" b="1">
                <a:solidFill>
                  <a:srgbClr val="FFFFFF"/>
                </a:solidFill>
                <a:latin typeface="Inter"/>
              </a:rPr>
              <a:t>Augmented Team</a:t>
            </a:r>
          </a:p>
        </p:txBody>
      </p:sp>
      <p:sp>
        <p:nvSpPr>
          <p:cNvPr id="6" name="TextBox 5"/>
          <p:cNvSpPr txBox="1"/>
          <p:nvPr/>
        </p:nvSpPr>
        <p:spPr>
          <a:xfrm>
            <a:off x="5619750" y="9639300"/>
            <a:ext cx="3810000" cy="285750"/>
          </a:xfrm>
          <a:prstGeom prst="rect">
            <a:avLst/>
          </a:prstGeom>
          <a:noFill/>
        </p:spPr>
        <p:txBody>
          <a:bodyPr wrap="square" lIns="0" rIns="0" tIns="0" bIns="0" anchor="t">
            <a:spAutoFit/>
          </a:bodyPr>
          <a:lstStyle/>
          <a:p>
            <a:pPr algn="r"/>
            <a:r>
              <a:rPr sz="1575" i="0" b="0">
                <a:solidFill>
                  <a:srgbClr val="9AA0AC"/>
                </a:solidFill>
                <a:latin typeface="Inter"/>
              </a:rPr>
              <a:t>Source: Crunchbase, 2 Oct</a:t>
            </a:r>
          </a:p>
        </p:txBody>
      </p:sp>
      <p:sp>
        <p:nvSpPr>
          <p:cNvPr id="7" name="TextBox 6"/>
          <p:cNvSpPr txBox="1"/>
          <p:nvPr/>
        </p:nvSpPr>
        <p:spPr>
          <a:xfrm>
            <a:off x="857250" y="857250"/>
            <a:ext cx="4762500" cy="323850"/>
          </a:xfrm>
          <a:prstGeom prst="rect">
            <a:avLst/>
          </a:prstGeom>
          <a:noFill/>
        </p:spPr>
        <p:txBody>
          <a:bodyPr wrap="square" lIns="0" rIns="0" tIns="0" bIns="0" anchor="t">
            <a:spAutoFit/>
          </a:bodyPr>
          <a:lstStyle/>
          <a:p>
            <a:pPr algn="l"/>
            <a:r>
              <a:rPr sz="1800" i="0" b="1" spc="480">
                <a:solidFill>
                  <a:srgbClr val="10B77F"/>
                </a:solidFill>
                <a:latin typeface="Inter"/>
              </a:rPr>
              <a:t>MARKETS</a:t>
            </a:r>
          </a:p>
        </p:txBody>
      </p:sp>
      <p:sp>
        <p:nvSpPr>
          <p:cNvPr id="8" name="TextBox 7"/>
          <p:cNvSpPr txBox="1"/>
          <p:nvPr/>
        </p:nvSpPr>
        <p:spPr>
          <a:xfrm>
            <a:off x="4762500" y="857250"/>
            <a:ext cx="4667250" cy="323850"/>
          </a:xfrm>
          <a:prstGeom prst="rect">
            <a:avLst/>
          </a:prstGeom>
          <a:noFill/>
        </p:spPr>
        <p:txBody>
          <a:bodyPr wrap="square" lIns="0" rIns="0" tIns="0" bIns="0" anchor="t">
            <a:spAutoFit/>
          </a:bodyPr>
          <a:lstStyle/>
          <a:p>
            <a:pPr algn="r"/>
            <a:r>
              <a:rPr sz="1800" i="0" b="0" spc="480">
                <a:solidFill>
                  <a:srgbClr val="9AA0AC"/>
                </a:solidFill>
                <a:latin typeface="Inter"/>
              </a:rPr>
              <a:t>01 / 03</a:t>
            </a:r>
          </a:p>
        </p:txBody>
      </p:sp>
      <p:sp>
        <p:nvSpPr>
          <p:cNvPr id="9" name="TextBox 8"/>
          <p:cNvSpPr txBox="1"/>
          <p:nvPr/>
        </p:nvSpPr>
        <p:spPr>
          <a:xfrm>
            <a:off x="857250" y="2190750"/>
            <a:ext cx="8572500" cy="3143250"/>
          </a:xfrm>
          <a:prstGeom prst="rect">
            <a:avLst/>
          </a:prstGeom>
          <a:noFill/>
        </p:spPr>
        <p:txBody>
          <a:bodyPr wrap="square" lIns="0" rIns="0" tIns="0" bIns="0" anchor="t">
            <a:spAutoFit/>
          </a:bodyPr>
          <a:lstStyle/>
          <a:p>
            <a:pPr algn="l">
              <a:lnSpc>
                <a:spcPct val="95000"/>
              </a:lnSpc>
            </a:pPr>
            <a:r>
              <a:rPr sz="7800" i="0" b="0">
                <a:solidFill>
                  <a:srgbClr val="FFFFFF"/>
                </a:solidFill>
                <a:latin typeface="Instrument Serif"/>
              </a:rPr>
              <a:t>AI took 64 cents of every venture </a:t>
            </a:r>
            <a:r>
              <a:rPr sz="7800" i="1" b="0">
                <a:solidFill>
                  <a:srgbClr val="10B77F"/>
                </a:solidFill>
                <a:latin typeface="Instrument Serif"/>
              </a:rPr>
              <a:t>dollar</a:t>
            </a:r>
          </a:p>
        </p:txBody>
      </p:sp>
      <p:sp>
        <p:nvSpPr>
          <p:cNvPr id="10" name="TextBox 9"/>
          <p:cNvSpPr txBox="1"/>
          <p:nvPr/>
        </p:nvSpPr>
        <p:spPr>
          <a:xfrm>
            <a:off x="857250" y="5810250"/>
            <a:ext cx="8382000" cy="2190750"/>
          </a:xfrm>
          <a:prstGeom prst="rect">
            <a:avLst/>
          </a:prstGeom>
          <a:noFill/>
        </p:spPr>
        <p:txBody>
          <a:bodyPr wrap="square" lIns="0" rIns="0" tIns="0" bIns="0" anchor="t">
            <a:spAutoFit/>
          </a:bodyPr>
          <a:lstStyle/>
          <a:p>
            <a:pPr algn="l">
              <a:lnSpc>
                <a:spcPct val="130000"/>
              </a:lnSpc>
            </a:pPr>
            <a:r>
              <a:rPr sz="2625" i="0" b="0">
                <a:solidFill>
                  <a:srgbClr val="C7CAD2"/>
                </a:solidFill>
                <a:latin typeface="Inter"/>
              </a:rPr>
              <a:t>Crunchbase: AI startups raised $102B of $159B in Q3, with a record 27 rounds of $1B or more. Capital is concentrating fast. The real question is where it compounds inside your company.</a:t>
            </a:r>
          </a:p>
        </p:txBody>
      </p:sp>
      <p:sp>
        <p:nvSpPr>
          <p:cNvPr id="11" name="Rounded Rectangle 10"/>
          <p:cNvSpPr/>
          <p:nvPr/>
        </p:nvSpPr>
        <p:spPr>
          <a:xfrm>
            <a:off x="857250" y="8143875"/>
            <a:ext cx="4572000" cy="685800"/>
          </a:xfrm>
          <a:prstGeom prst="roundRect">
            <a:avLst>
              <a:gd name="adj" fmla="val 50000"/>
            </a:avLst>
          </a:prstGeom>
          <a:solidFill>
            <a:srgbClr val="0D2A24"/>
          </a:solidFill>
          <a:ln w="19050">
            <a:solidFill>
              <a:srgbClr val="10B7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0150" y="8143875"/>
            <a:ext cx="3981450" cy="685800"/>
          </a:xfrm>
          <a:prstGeom prst="rect">
            <a:avLst/>
          </a:prstGeom>
          <a:noFill/>
        </p:spPr>
        <p:txBody>
          <a:bodyPr wrap="square" lIns="0" rIns="0" tIns="0" bIns="0" anchor="ctr">
            <a:spAutoFit/>
          </a:bodyPr>
          <a:lstStyle/>
          <a:p>
            <a:pPr algn="l"/>
            <a:r>
              <a:rPr sz="2250" i="0" b="1">
                <a:solidFill>
                  <a:srgbClr val="10B77F"/>
                </a:solidFill>
                <a:latin typeface="Inter"/>
              </a:rPr>
              <a:t>$102B of $159B · Q3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9334500"/>
            <a:ext cx="85725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857250" y="9648825"/>
            <a:ext cx="152400" cy="152400"/>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9200" y="9601200"/>
            <a:ext cx="3810000" cy="323850"/>
          </a:xfrm>
          <a:prstGeom prst="rect">
            <a:avLst/>
          </a:prstGeom>
          <a:noFill/>
        </p:spPr>
        <p:txBody>
          <a:bodyPr wrap="square" lIns="0" rIns="0" tIns="0" bIns="0" anchor="t">
            <a:spAutoFit/>
          </a:bodyPr>
          <a:lstStyle/>
          <a:p>
            <a:pPr algn="l"/>
            <a:r>
              <a:rPr sz="1950" i="0" b="1">
                <a:solidFill>
                  <a:srgbClr val="FFFFFF"/>
                </a:solidFill>
                <a:latin typeface="Inter"/>
              </a:rPr>
              <a:t>Augmented Team</a:t>
            </a:r>
          </a:p>
        </p:txBody>
      </p:sp>
      <p:sp>
        <p:nvSpPr>
          <p:cNvPr id="6" name="TextBox 5"/>
          <p:cNvSpPr txBox="1"/>
          <p:nvPr/>
        </p:nvSpPr>
        <p:spPr>
          <a:xfrm>
            <a:off x="5619750" y="9639300"/>
            <a:ext cx="3810000" cy="285750"/>
          </a:xfrm>
          <a:prstGeom prst="rect">
            <a:avLst/>
          </a:prstGeom>
          <a:noFill/>
        </p:spPr>
        <p:txBody>
          <a:bodyPr wrap="square" lIns="0" rIns="0" tIns="0" bIns="0" anchor="t">
            <a:spAutoFit/>
          </a:bodyPr>
          <a:lstStyle/>
          <a:p>
            <a:pPr algn="r"/>
            <a:r>
              <a:rPr sz="1575" i="0" b="0">
                <a:solidFill>
                  <a:srgbClr val="9AA0AC"/>
                </a:solidFill>
                <a:latin typeface="Inter"/>
              </a:rPr>
              <a:t>Source: Anthropic, 6 Oct</a:t>
            </a:r>
          </a:p>
        </p:txBody>
      </p:sp>
      <p:sp>
        <p:nvSpPr>
          <p:cNvPr id="7" name="TextBox 6"/>
          <p:cNvSpPr txBox="1"/>
          <p:nvPr/>
        </p:nvSpPr>
        <p:spPr>
          <a:xfrm>
            <a:off x="857250" y="857250"/>
            <a:ext cx="4762500" cy="323850"/>
          </a:xfrm>
          <a:prstGeom prst="rect">
            <a:avLst/>
          </a:prstGeom>
          <a:noFill/>
        </p:spPr>
        <p:txBody>
          <a:bodyPr wrap="square" lIns="0" rIns="0" tIns="0" bIns="0" anchor="t">
            <a:spAutoFit/>
          </a:bodyPr>
          <a:lstStyle/>
          <a:p>
            <a:pPr algn="l"/>
            <a:r>
              <a:rPr sz="1800" i="0" b="1" spc="480">
                <a:solidFill>
                  <a:srgbClr val="10B77F"/>
                </a:solidFill>
                <a:latin typeface="Inter"/>
              </a:rPr>
              <a:t>MODELS</a:t>
            </a:r>
          </a:p>
        </p:txBody>
      </p:sp>
      <p:sp>
        <p:nvSpPr>
          <p:cNvPr id="8" name="TextBox 7"/>
          <p:cNvSpPr txBox="1"/>
          <p:nvPr/>
        </p:nvSpPr>
        <p:spPr>
          <a:xfrm>
            <a:off x="4762500" y="857250"/>
            <a:ext cx="4667250" cy="323850"/>
          </a:xfrm>
          <a:prstGeom prst="rect">
            <a:avLst/>
          </a:prstGeom>
          <a:noFill/>
        </p:spPr>
        <p:txBody>
          <a:bodyPr wrap="square" lIns="0" rIns="0" tIns="0" bIns="0" anchor="t">
            <a:spAutoFit/>
          </a:bodyPr>
          <a:lstStyle/>
          <a:p>
            <a:pPr algn="r"/>
            <a:r>
              <a:rPr sz="1800" i="0" b="0" spc="480">
                <a:solidFill>
                  <a:srgbClr val="9AA0AC"/>
                </a:solidFill>
                <a:latin typeface="Inter"/>
              </a:rPr>
              <a:t>02 / 03</a:t>
            </a:r>
          </a:p>
        </p:txBody>
      </p:sp>
      <p:sp>
        <p:nvSpPr>
          <p:cNvPr id="9" name="TextBox 8"/>
          <p:cNvSpPr txBox="1"/>
          <p:nvPr/>
        </p:nvSpPr>
        <p:spPr>
          <a:xfrm>
            <a:off x="857250" y="2190750"/>
            <a:ext cx="8572500" cy="3143250"/>
          </a:xfrm>
          <a:prstGeom prst="rect">
            <a:avLst/>
          </a:prstGeom>
          <a:noFill/>
        </p:spPr>
        <p:txBody>
          <a:bodyPr wrap="square" lIns="0" rIns="0" tIns="0" bIns="0" anchor="t">
            <a:spAutoFit/>
          </a:bodyPr>
          <a:lstStyle/>
          <a:p>
            <a:pPr algn="l">
              <a:lnSpc>
                <a:spcPct val="95000"/>
              </a:lnSpc>
            </a:pPr>
            <a:r>
              <a:rPr sz="7800" i="0" b="0">
                <a:solidFill>
                  <a:srgbClr val="FFFFFF"/>
                </a:solidFill>
                <a:latin typeface="Instrument Serif"/>
              </a:rPr>
              <a:t>Claude moves into your </a:t>
            </a:r>
            <a:r>
              <a:rPr sz="7800" i="1" b="0">
                <a:solidFill>
                  <a:srgbClr val="10B77F"/>
                </a:solidFill>
                <a:latin typeface="Instrument Serif"/>
              </a:rPr>
              <a:t>documents</a:t>
            </a:r>
          </a:p>
        </p:txBody>
      </p:sp>
      <p:sp>
        <p:nvSpPr>
          <p:cNvPr id="10" name="TextBox 9"/>
          <p:cNvSpPr txBox="1"/>
          <p:nvPr/>
        </p:nvSpPr>
        <p:spPr>
          <a:xfrm>
            <a:off x="857250" y="5810250"/>
            <a:ext cx="8382000" cy="2190750"/>
          </a:xfrm>
          <a:prstGeom prst="rect">
            <a:avLst/>
          </a:prstGeom>
          <a:noFill/>
        </p:spPr>
        <p:txBody>
          <a:bodyPr wrap="square" lIns="0" rIns="0" tIns="0" bIns="0" anchor="t">
            <a:spAutoFit/>
          </a:bodyPr>
          <a:lstStyle/>
          <a:p>
            <a:pPr algn="l">
              <a:lnSpc>
                <a:spcPct val="130000"/>
              </a:lnSpc>
            </a:pPr>
            <a:r>
              <a:rPr sz="2625" i="0" b="0">
                <a:solidFill>
                  <a:srgbClr val="C7CAD2"/>
                </a:solidFill>
                <a:latin typeface="Inter"/>
              </a:rPr>
              <a:t>Anthropic put Claude inside Google Docs, Sheets and Slides. Public beta on paid plans, with edits needing approval by default. AI is becoming a layer inside every tool you already rent.</a:t>
            </a:r>
          </a:p>
        </p:txBody>
      </p:sp>
      <p:sp>
        <p:nvSpPr>
          <p:cNvPr id="11" name="Rounded Rectangle 10"/>
          <p:cNvSpPr/>
          <p:nvPr/>
        </p:nvSpPr>
        <p:spPr>
          <a:xfrm>
            <a:off x="857250" y="8143875"/>
            <a:ext cx="3762375" cy="685800"/>
          </a:xfrm>
          <a:prstGeom prst="roundRect">
            <a:avLst>
              <a:gd name="adj" fmla="val 50000"/>
            </a:avLst>
          </a:prstGeom>
          <a:solidFill>
            <a:srgbClr val="0D2A24"/>
          </a:solidFill>
          <a:ln w="19050">
            <a:solidFill>
              <a:srgbClr val="10B7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0150" y="8143875"/>
            <a:ext cx="3171825" cy="685800"/>
          </a:xfrm>
          <a:prstGeom prst="rect">
            <a:avLst/>
          </a:prstGeom>
          <a:noFill/>
        </p:spPr>
        <p:txBody>
          <a:bodyPr wrap="square" lIns="0" rIns="0" tIns="0" bIns="0" anchor="ctr">
            <a:spAutoFit/>
          </a:bodyPr>
          <a:lstStyle/>
          <a:p>
            <a:pPr algn="l"/>
            <a:r>
              <a:rPr sz="2250" i="0" b="1">
                <a:solidFill>
                  <a:srgbClr val="10B77F"/>
                </a:solidFill>
                <a:latin typeface="Inter"/>
              </a:rPr>
              <a:t>Public beta · 6 Oct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9334500"/>
            <a:ext cx="85725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857250" y="9648825"/>
            <a:ext cx="152400" cy="152400"/>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9200" y="9601200"/>
            <a:ext cx="3810000" cy="323850"/>
          </a:xfrm>
          <a:prstGeom prst="rect">
            <a:avLst/>
          </a:prstGeom>
          <a:noFill/>
        </p:spPr>
        <p:txBody>
          <a:bodyPr wrap="square" lIns="0" rIns="0" tIns="0" bIns="0" anchor="t">
            <a:spAutoFit/>
          </a:bodyPr>
          <a:lstStyle/>
          <a:p>
            <a:pPr algn="l"/>
            <a:r>
              <a:rPr sz="1950" i="0" b="1">
                <a:solidFill>
                  <a:srgbClr val="FFFFFF"/>
                </a:solidFill>
                <a:latin typeface="Inter"/>
              </a:rPr>
              <a:t>Augmented Team</a:t>
            </a:r>
          </a:p>
        </p:txBody>
      </p:sp>
      <p:sp>
        <p:nvSpPr>
          <p:cNvPr id="6" name="TextBox 5"/>
          <p:cNvSpPr txBox="1"/>
          <p:nvPr/>
        </p:nvSpPr>
        <p:spPr>
          <a:xfrm>
            <a:off x="5619750" y="9639300"/>
            <a:ext cx="3810000" cy="285750"/>
          </a:xfrm>
          <a:prstGeom prst="rect">
            <a:avLst/>
          </a:prstGeom>
          <a:noFill/>
        </p:spPr>
        <p:txBody>
          <a:bodyPr wrap="square" lIns="0" rIns="0" tIns="0" bIns="0" anchor="t">
            <a:spAutoFit/>
          </a:bodyPr>
          <a:lstStyle/>
          <a:p>
            <a:pPr algn="r"/>
            <a:r>
              <a:rPr sz="1575" i="0" b="0">
                <a:solidFill>
                  <a:srgbClr val="9AA0AC"/>
                </a:solidFill>
                <a:latin typeface="Inter"/>
              </a:rPr>
              <a:t>Source: BBC, 5 Oct</a:t>
            </a:r>
          </a:p>
        </p:txBody>
      </p:sp>
      <p:sp>
        <p:nvSpPr>
          <p:cNvPr id="7" name="TextBox 6"/>
          <p:cNvSpPr txBox="1"/>
          <p:nvPr/>
        </p:nvSpPr>
        <p:spPr>
          <a:xfrm>
            <a:off x="857250" y="857250"/>
            <a:ext cx="4762500" cy="323850"/>
          </a:xfrm>
          <a:prstGeom prst="rect">
            <a:avLst/>
          </a:prstGeom>
          <a:noFill/>
        </p:spPr>
        <p:txBody>
          <a:bodyPr wrap="square" lIns="0" rIns="0" tIns="0" bIns="0" anchor="t">
            <a:spAutoFit/>
          </a:bodyPr>
          <a:lstStyle/>
          <a:p>
            <a:pPr algn="l"/>
            <a:r>
              <a:rPr sz="1800" i="0" b="1" spc="480">
                <a:solidFill>
                  <a:srgbClr val="10B77F"/>
                </a:solidFill>
                <a:latin typeface="Inter"/>
              </a:rPr>
              <a:t>STRATEGY</a:t>
            </a:r>
          </a:p>
        </p:txBody>
      </p:sp>
      <p:sp>
        <p:nvSpPr>
          <p:cNvPr id="8" name="TextBox 7"/>
          <p:cNvSpPr txBox="1"/>
          <p:nvPr/>
        </p:nvSpPr>
        <p:spPr>
          <a:xfrm>
            <a:off x="4762500" y="857250"/>
            <a:ext cx="4667250" cy="323850"/>
          </a:xfrm>
          <a:prstGeom prst="rect">
            <a:avLst/>
          </a:prstGeom>
          <a:noFill/>
        </p:spPr>
        <p:txBody>
          <a:bodyPr wrap="square" lIns="0" rIns="0" tIns="0" bIns="0" anchor="t">
            <a:spAutoFit/>
          </a:bodyPr>
          <a:lstStyle/>
          <a:p>
            <a:pPr algn="r"/>
            <a:r>
              <a:rPr sz="1800" i="0" b="0" spc="480">
                <a:solidFill>
                  <a:srgbClr val="9AA0AC"/>
                </a:solidFill>
                <a:latin typeface="Inter"/>
              </a:rPr>
              <a:t>03 / 03</a:t>
            </a:r>
          </a:p>
        </p:txBody>
      </p:sp>
      <p:sp>
        <p:nvSpPr>
          <p:cNvPr id="9" name="TextBox 8"/>
          <p:cNvSpPr txBox="1"/>
          <p:nvPr/>
        </p:nvSpPr>
        <p:spPr>
          <a:xfrm>
            <a:off x="857250" y="2190750"/>
            <a:ext cx="8572500" cy="3143250"/>
          </a:xfrm>
          <a:prstGeom prst="rect">
            <a:avLst/>
          </a:prstGeom>
          <a:noFill/>
        </p:spPr>
        <p:txBody>
          <a:bodyPr wrap="square" lIns="0" rIns="0" tIns="0" bIns="0" anchor="t">
            <a:spAutoFit/>
          </a:bodyPr>
          <a:lstStyle/>
          <a:p>
            <a:pPr algn="l">
              <a:lnSpc>
                <a:spcPct val="95000"/>
              </a:lnSpc>
            </a:pPr>
            <a:r>
              <a:rPr sz="7800" i="0" b="0">
                <a:solidFill>
                  <a:srgbClr val="FFFFFF"/>
                </a:solidFill>
                <a:latin typeface="Instrument Serif"/>
              </a:rPr>
              <a:t>You can't unwind a dependency you can't </a:t>
            </a:r>
            <a:r>
              <a:rPr sz="7800" i="1" b="0">
                <a:solidFill>
                  <a:srgbClr val="10B77F"/>
                </a:solidFill>
                <a:latin typeface="Instrument Serif"/>
              </a:rPr>
              <a:t>see</a:t>
            </a:r>
          </a:p>
        </p:txBody>
      </p:sp>
      <p:sp>
        <p:nvSpPr>
          <p:cNvPr id="10" name="TextBox 9"/>
          <p:cNvSpPr txBox="1"/>
          <p:nvPr/>
        </p:nvSpPr>
        <p:spPr>
          <a:xfrm>
            <a:off x="857250" y="5810250"/>
            <a:ext cx="8382000" cy="2190750"/>
          </a:xfrm>
          <a:prstGeom prst="rect">
            <a:avLst/>
          </a:prstGeom>
          <a:noFill/>
        </p:spPr>
        <p:txBody>
          <a:bodyPr wrap="square" lIns="0" rIns="0" tIns="0" bIns="0" anchor="t">
            <a:spAutoFit/>
          </a:bodyPr>
          <a:lstStyle/>
          <a:p>
            <a:pPr algn="l">
              <a:lnSpc>
                <a:spcPct val="130000"/>
              </a:lnSpc>
            </a:pPr>
            <a:r>
              <a:rPr sz="2625" i="0" b="0">
                <a:solidFill>
                  <a:srgbClr val="C7CAD2"/>
                </a:solidFill>
                <a:latin typeface="Inter"/>
              </a:rPr>
              <a:t>The Pentagon told the BBC it has stopped using Anthropic. Sources told the BBC Claude was still running inside Palantir's Maven system as recently as last week.</a:t>
            </a:r>
          </a:p>
        </p:txBody>
      </p:sp>
      <p:sp>
        <p:nvSpPr>
          <p:cNvPr id="11" name="Rounded Rectangle 10"/>
          <p:cNvSpPr/>
          <p:nvPr/>
        </p:nvSpPr>
        <p:spPr>
          <a:xfrm>
            <a:off x="857250" y="8143875"/>
            <a:ext cx="3762375" cy="685800"/>
          </a:xfrm>
          <a:prstGeom prst="roundRect">
            <a:avLst>
              <a:gd name="adj" fmla="val 50000"/>
            </a:avLst>
          </a:prstGeom>
          <a:solidFill>
            <a:srgbClr val="0D2A24"/>
          </a:solidFill>
          <a:ln w="19050">
            <a:solidFill>
              <a:srgbClr val="10B7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0150" y="8143875"/>
            <a:ext cx="3171825" cy="685800"/>
          </a:xfrm>
          <a:prstGeom prst="rect">
            <a:avLst/>
          </a:prstGeom>
          <a:noFill/>
        </p:spPr>
        <p:txBody>
          <a:bodyPr wrap="square" lIns="0" rIns="0" tIns="0" bIns="0" anchor="ctr">
            <a:spAutoFit/>
          </a:bodyPr>
          <a:lstStyle/>
          <a:p>
            <a:pPr algn="l"/>
            <a:r>
              <a:rPr sz="2250" i="0" b="1">
                <a:solidFill>
                  <a:srgbClr val="10B77F"/>
                </a:solidFill>
                <a:latin typeface="Inter"/>
              </a:rPr>
              <a:t>Vendor risk · 5 Oct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9334500"/>
            <a:ext cx="85725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857250" y="9648825"/>
            <a:ext cx="152400" cy="152400"/>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9200" y="9601200"/>
            <a:ext cx="3810000" cy="323850"/>
          </a:xfrm>
          <a:prstGeom prst="rect">
            <a:avLst/>
          </a:prstGeom>
          <a:noFill/>
        </p:spPr>
        <p:txBody>
          <a:bodyPr wrap="square" lIns="0" rIns="0" tIns="0" bIns="0" anchor="t">
            <a:spAutoFit/>
          </a:bodyPr>
          <a:lstStyle/>
          <a:p>
            <a:pPr algn="l"/>
            <a:r>
              <a:rPr sz="1950" i="0" b="1">
                <a:solidFill>
                  <a:srgbClr val="FFFFFF"/>
                </a:solidFill>
                <a:latin typeface="Inter"/>
              </a:rPr>
              <a:t>Augmented Team</a:t>
            </a:r>
          </a:p>
        </p:txBody>
      </p:sp>
      <p:sp>
        <p:nvSpPr>
          <p:cNvPr id="6" name="TextBox 5"/>
          <p:cNvSpPr txBox="1"/>
          <p:nvPr/>
        </p:nvSpPr>
        <p:spPr>
          <a:xfrm>
            <a:off x="857250" y="857250"/>
            <a:ext cx="4762500" cy="323850"/>
          </a:xfrm>
          <a:prstGeom prst="rect">
            <a:avLst/>
          </a:prstGeom>
          <a:noFill/>
        </p:spPr>
        <p:txBody>
          <a:bodyPr wrap="square" lIns="0" rIns="0" tIns="0" bIns="0" anchor="t">
            <a:spAutoFit/>
          </a:bodyPr>
          <a:lstStyle/>
          <a:p>
            <a:pPr algn="l"/>
            <a:r>
              <a:rPr sz="1800" i="0" b="1" spc="480">
                <a:solidFill>
                  <a:srgbClr val="10B77F"/>
                </a:solidFill>
                <a:latin typeface="Inter"/>
              </a:rPr>
              <a:t>THE TAKEAWAY</a:t>
            </a:r>
          </a:p>
        </p:txBody>
      </p:sp>
      <p:sp>
        <p:nvSpPr>
          <p:cNvPr id="7" name="TextBox 6"/>
          <p:cNvSpPr txBox="1"/>
          <p:nvPr/>
        </p:nvSpPr>
        <p:spPr>
          <a:xfrm>
            <a:off x="4762500" y="857250"/>
            <a:ext cx="4667250" cy="323850"/>
          </a:xfrm>
          <a:prstGeom prst="rect">
            <a:avLst/>
          </a:prstGeom>
          <a:noFill/>
        </p:spPr>
        <p:txBody>
          <a:bodyPr wrap="square" lIns="0" rIns="0" tIns="0" bIns="0" anchor="t">
            <a:spAutoFit/>
          </a:bodyPr>
          <a:lstStyle/>
          <a:p>
            <a:pPr algn="r"/>
            <a:r>
              <a:rPr sz="1800" i="0" b="0" spc="480">
                <a:solidFill>
                  <a:srgbClr val="9AA0AC"/>
                </a:solidFill>
                <a:latin typeface="Inter"/>
              </a:rPr>
              <a:t>AUGMENTED TEAM POV</a:t>
            </a:r>
          </a:p>
        </p:txBody>
      </p:sp>
      <p:sp>
        <p:nvSpPr>
          <p:cNvPr id="8" name="TextBox 7"/>
          <p:cNvSpPr txBox="1"/>
          <p:nvPr/>
        </p:nvSpPr>
        <p:spPr>
          <a:xfrm>
            <a:off x="857250" y="2190750"/>
            <a:ext cx="8572500" cy="1905000"/>
          </a:xfrm>
          <a:prstGeom prst="rect">
            <a:avLst/>
          </a:prstGeom>
          <a:noFill/>
        </p:spPr>
        <p:txBody>
          <a:bodyPr wrap="square" lIns="0" rIns="0" tIns="0" bIns="0" anchor="t">
            <a:spAutoFit/>
          </a:bodyPr>
          <a:lstStyle/>
          <a:p>
            <a:pPr algn="l"/>
            <a:r>
              <a:rPr sz="7800" i="0" b="0">
                <a:solidFill>
                  <a:srgbClr val="FFFFFF"/>
                </a:solidFill>
                <a:latin typeface="Instrument Serif"/>
              </a:rPr>
              <a:t>Own the </a:t>
            </a:r>
            <a:r>
              <a:rPr sz="7800" i="1" b="0">
                <a:solidFill>
                  <a:srgbClr val="10B77F"/>
                </a:solidFill>
                <a:latin typeface="Instrument Serif"/>
              </a:rPr>
              <a:t>loop</a:t>
            </a:r>
          </a:p>
        </p:txBody>
      </p:sp>
      <p:sp>
        <p:nvSpPr>
          <p:cNvPr id="9" name="TextBox 8"/>
          <p:cNvSpPr txBox="1"/>
          <p:nvPr/>
        </p:nvSpPr>
        <p:spPr>
          <a:xfrm>
            <a:off x="857250" y="4191000"/>
            <a:ext cx="8382000" cy="4000500"/>
          </a:xfrm>
          <a:prstGeom prst="rect">
            <a:avLst/>
          </a:prstGeom>
          <a:noFill/>
        </p:spPr>
        <p:txBody>
          <a:bodyPr wrap="square" lIns="0" rIns="0" tIns="0" bIns="0" anchor="t">
            <a:spAutoFit/>
          </a:bodyPr>
          <a:lstStyle/>
          <a:p>
            <a:pPr algn="l">
              <a:lnSpc>
                <a:spcPct val="130000"/>
              </a:lnSpc>
            </a:pPr>
            <a:r>
              <a:rPr sz="2625" i="0" b="0">
                <a:solidFill>
                  <a:srgbClr val="C7CAD2"/>
                </a:solidFill>
                <a:latin typeface="Inter"/>
              </a:rPr>
              <a:t>Capital is flooding in. AI is moving into every tool you rent. Dependencies stay invisible until they break. Rented tools don't compound. Human capital plus token capital, inside an operating model you own,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9334500"/>
            <a:ext cx="85725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857250" y="9648825"/>
            <a:ext cx="152400" cy="152400"/>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9200" y="9601200"/>
            <a:ext cx="3810000" cy="323850"/>
          </a:xfrm>
          <a:prstGeom prst="rect">
            <a:avLst/>
          </a:prstGeom>
          <a:noFill/>
        </p:spPr>
        <p:txBody>
          <a:bodyPr wrap="square" lIns="0" rIns="0" tIns="0" bIns="0" anchor="t">
            <a:spAutoFit/>
          </a:bodyPr>
          <a:lstStyle/>
          <a:p>
            <a:pPr algn="l"/>
            <a:r>
              <a:rPr sz="1950" i="0" b="1">
                <a:solidFill>
                  <a:srgbClr val="FFFFFF"/>
                </a:solidFill>
                <a:latin typeface="Inter"/>
              </a:rPr>
              <a:t>Augmented Team</a:t>
            </a:r>
          </a:p>
        </p:txBody>
      </p:sp>
      <p:sp>
        <p:nvSpPr>
          <p:cNvPr id="6" name="Rectangle 5"/>
          <p:cNvSpPr/>
          <p:nvPr/>
        </p:nvSpPr>
        <p:spPr>
          <a:xfrm>
            <a:off x="0" y="9140671"/>
            <a:ext cx="428625" cy="19382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14067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8625" y="9128708"/>
            <a:ext cx="428625" cy="20579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8625" y="912870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7250" y="9106687"/>
            <a:ext cx="428625" cy="227812"/>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7250" y="9106687"/>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5875" y="9073738"/>
            <a:ext cx="428625" cy="26076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85875" y="907373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14500" y="9029206"/>
            <a:ext cx="428625" cy="305293"/>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14500" y="9029206"/>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43125" y="8972558"/>
            <a:ext cx="428625" cy="36194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3125" y="897255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71750" y="8903342"/>
            <a:ext cx="428625" cy="431157"/>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71750" y="8903342"/>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00375" y="8821164"/>
            <a:ext cx="428625" cy="513335"/>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00375" y="8821164"/>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29000" y="8725671"/>
            <a:ext cx="428625" cy="60882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29000" y="872567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57625" y="8616546"/>
            <a:ext cx="428625" cy="717953"/>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57625" y="8616546"/>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86250" y="8493499"/>
            <a:ext cx="428625" cy="841000"/>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86250" y="8493499"/>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14875" y="8356260"/>
            <a:ext cx="428625" cy="978239"/>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4875" y="8356260"/>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43500" y="8204581"/>
            <a:ext cx="428625" cy="112991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43500" y="820458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72125" y="8038228"/>
            <a:ext cx="428625" cy="129627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72125" y="803822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00750" y="7856982"/>
            <a:ext cx="428625" cy="1477517"/>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00750" y="7856982"/>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29375" y="7660635"/>
            <a:ext cx="428625" cy="1673864"/>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29375" y="7660635"/>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0" y="7448993"/>
            <a:ext cx="428625" cy="1885506"/>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0" y="7448993"/>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286625" y="7221867"/>
            <a:ext cx="428625" cy="2112632"/>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86625" y="7221867"/>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15250" y="6979080"/>
            <a:ext cx="428625" cy="2355419"/>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15250" y="6979080"/>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43875" y="6720461"/>
            <a:ext cx="428625" cy="2614038"/>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43875" y="6720461"/>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72500" y="6445848"/>
            <a:ext cx="428625" cy="2888651"/>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72500" y="6445848"/>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01125" y="6155083"/>
            <a:ext cx="428625" cy="3179416"/>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01125" y="6155083"/>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429750" y="5848016"/>
            <a:ext cx="428625" cy="3486483"/>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429750" y="5848016"/>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58375" y="5524500"/>
            <a:ext cx="428625" cy="3810000"/>
          </a:xfrm>
          <a:prstGeom prst="rect">
            <a:avLst/>
          </a:prstGeom>
          <a:solidFill>
            <a:srgbClr val="0D1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58375" y="5524500"/>
            <a:ext cx="428625" cy="3810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7250" y="857250"/>
            <a:ext cx="4762500" cy="323850"/>
          </a:xfrm>
          <a:prstGeom prst="rect">
            <a:avLst/>
          </a:prstGeom>
          <a:noFill/>
        </p:spPr>
        <p:txBody>
          <a:bodyPr wrap="square" lIns="0" rIns="0" tIns="0" bIns="0" anchor="t">
            <a:spAutoFit/>
          </a:bodyPr>
          <a:lstStyle/>
          <a:p>
            <a:pPr algn="l"/>
            <a:r>
              <a:rPr sz="1800" i="0" b="1" spc="480">
                <a:solidFill>
                  <a:srgbClr val="10B77F"/>
                </a:solidFill>
                <a:latin typeface="Inter"/>
              </a:rPr>
              <a:t>AUGMENTED TEAM</a:t>
            </a:r>
          </a:p>
        </p:txBody>
      </p:sp>
      <p:sp>
        <p:nvSpPr>
          <p:cNvPr id="55" name="TextBox 54"/>
          <p:cNvSpPr txBox="1"/>
          <p:nvPr/>
        </p:nvSpPr>
        <p:spPr>
          <a:xfrm>
            <a:off x="4762500" y="857250"/>
            <a:ext cx="4667250" cy="323850"/>
          </a:xfrm>
          <a:prstGeom prst="rect">
            <a:avLst/>
          </a:prstGeom>
          <a:noFill/>
        </p:spPr>
        <p:txBody>
          <a:bodyPr wrap="square" lIns="0" rIns="0" tIns="0" bIns="0" anchor="t">
            <a:spAutoFit/>
          </a:bodyPr>
          <a:lstStyle/>
          <a:p>
            <a:pPr algn="r"/>
            <a:r>
              <a:rPr sz="1800" i="0" b="0" spc="480">
                <a:solidFill>
                  <a:srgbClr val="9AA0AC"/>
                </a:solidFill>
                <a:latin typeface="Inter"/>
              </a:rPr>
              <a:t>06 / 06</a:t>
            </a:r>
          </a:p>
        </p:txBody>
      </p:sp>
      <p:sp>
        <p:nvSpPr>
          <p:cNvPr id="56" name="TextBox 55"/>
          <p:cNvSpPr txBox="1"/>
          <p:nvPr/>
        </p:nvSpPr>
        <p:spPr>
          <a:xfrm>
            <a:off x="857250" y="1809750"/>
            <a:ext cx="8572500" cy="3143250"/>
          </a:xfrm>
          <a:prstGeom prst="rect">
            <a:avLst/>
          </a:prstGeom>
          <a:noFill/>
        </p:spPr>
        <p:txBody>
          <a:bodyPr wrap="square" lIns="0" rIns="0" tIns="0" bIns="0" anchor="t">
            <a:spAutoFit/>
          </a:bodyPr>
          <a:lstStyle/>
          <a:p>
            <a:pPr algn="l">
              <a:lnSpc>
                <a:spcPct val="95000"/>
              </a:lnSpc>
            </a:pPr>
            <a:r>
              <a:rPr sz="9600" i="0" b="0">
                <a:solidFill>
                  <a:srgbClr val="FFFFFF"/>
                </a:solidFill>
                <a:latin typeface="Instrument Serif"/>
              </a:rPr>
              <a:t>We install the </a:t>
            </a:r>
            <a:r>
              <a:rPr sz="9600" i="1" b="0">
                <a:solidFill>
                  <a:srgbClr val="10B77F"/>
                </a:solidFill>
                <a:latin typeface="Instrument Serif"/>
              </a:rPr>
              <a:t>compounding edge</a:t>
            </a:r>
          </a:p>
        </p:txBody>
      </p:sp>
      <p:sp>
        <p:nvSpPr>
          <p:cNvPr id="57" name="TextBox 56"/>
          <p:cNvSpPr txBox="1"/>
          <p:nvPr/>
        </p:nvSpPr>
        <p:spPr>
          <a:xfrm>
            <a:off x="857250" y="4953000"/>
            <a:ext cx="7620000" cy="381000"/>
          </a:xfrm>
          <a:prstGeom prst="rect">
            <a:avLst/>
          </a:prstGeom>
          <a:noFill/>
        </p:spPr>
        <p:txBody>
          <a:bodyPr wrap="square" lIns="0" rIns="0" tIns="0" bIns="0" anchor="t">
            <a:spAutoFit/>
          </a:bodyPr>
          <a:lstStyle/>
          <a:p>
            <a:pPr algn="l"/>
            <a:r>
              <a:rPr sz="1950" i="0" b="0" spc="300">
                <a:solidFill>
                  <a:srgbClr val="9AA0AC"/>
                </a:solidFill>
                <a:latin typeface="Inter"/>
              </a:rPr>
              <a:t>FOLLOW FOR NEXT WEEK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